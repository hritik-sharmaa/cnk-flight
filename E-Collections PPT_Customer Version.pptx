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slideLayouts/slideLayout14.xml" ContentType="application/vnd.openxmlformats-officedocument.presentationml.slideLayout+xml"/>
  <Override PartName="/ppt/theme/theme7.xml" ContentType="application/vnd.openxmlformats-officedocument.theme+xml"/>
  <Override PartName="/ppt/slideLayouts/slideLayout1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9" r:id="rId2"/>
    <p:sldMasterId id="2147483666" r:id="rId3"/>
    <p:sldMasterId id="2147483651" r:id="rId4"/>
    <p:sldMasterId id="2147483669" r:id="rId5"/>
    <p:sldMasterId id="2147483658" r:id="rId6"/>
    <p:sldMasterId id="2147483660" r:id="rId7"/>
    <p:sldMasterId id="2147483664" r:id="rId8"/>
  </p:sldMasterIdLst>
  <p:notesMasterIdLst>
    <p:notesMasterId r:id="rId27"/>
  </p:notesMasterIdLst>
  <p:sldIdLst>
    <p:sldId id="256" r:id="rId9"/>
    <p:sldId id="325" r:id="rId10"/>
    <p:sldId id="361" r:id="rId11"/>
    <p:sldId id="369" r:id="rId12"/>
    <p:sldId id="340" r:id="rId13"/>
    <p:sldId id="341" r:id="rId14"/>
    <p:sldId id="305" r:id="rId15"/>
    <p:sldId id="371" r:id="rId16"/>
    <p:sldId id="368" r:id="rId17"/>
    <p:sldId id="360" r:id="rId18"/>
    <p:sldId id="344" r:id="rId19"/>
    <p:sldId id="343" r:id="rId20"/>
    <p:sldId id="356" r:id="rId21"/>
    <p:sldId id="357" r:id="rId22"/>
    <p:sldId id="358" r:id="rId23"/>
    <p:sldId id="359" r:id="rId24"/>
    <p:sldId id="362" r:id="rId25"/>
    <p:sldId id="265" r:id="rId26"/>
  </p:sldIdLst>
  <p:sldSz cx="12188825" cy="6858000"/>
  <p:notesSz cx="6858000" cy="9144000"/>
  <p:defaultTextStyle>
    <a:defPPr>
      <a:defRPr lang="en-US"/>
    </a:defPPr>
    <a:lvl1pPr marL="0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41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285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713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5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5" userDrawn="1">
          <p15:clr>
            <a:srgbClr val="A4A3A4"/>
          </p15:clr>
        </p15:guide>
        <p15:guide id="3" orient="horz" pos="4223">
          <p15:clr>
            <a:srgbClr val="A4A3A4"/>
          </p15:clr>
        </p15:guide>
        <p15:guide id="4" pos="379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ntosh More     /DEP_CMSPRO/IBANK/BKC" initials="SM/" lastIdx="1" clrIdx="0">
    <p:extLst>
      <p:ext uri="{19B8F6BF-5375-455C-9EA6-DF929625EA0E}">
        <p15:presenceInfo xmlns:p15="http://schemas.microsoft.com/office/powerpoint/2012/main" userId="S-1-5-21-1343024091-725345543-504838010-217071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9E9"/>
    <a:srgbClr val="A3E1FD"/>
    <a:srgbClr val="E77817"/>
    <a:srgbClr val="972917"/>
    <a:srgbClr val="917BB9"/>
    <a:srgbClr val="00C0F3"/>
    <a:srgbClr val="97291E"/>
    <a:srgbClr val="9C7EB7"/>
    <a:srgbClr val="FFFFFF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8321" autoAdjust="0"/>
  </p:normalViewPr>
  <p:slideViewPr>
    <p:cSldViewPr>
      <p:cViewPr varScale="1">
        <p:scale>
          <a:sx n="65" d="100"/>
          <a:sy n="65" d="100"/>
        </p:scale>
        <p:origin x="724" y="56"/>
      </p:cViewPr>
      <p:guideLst>
        <p:guide orient="horz" pos="2160"/>
        <p:guide pos="3935"/>
        <p:guide orient="horz" pos="4223"/>
        <p:guide pos="379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commentAuthors" Target="commentAuthor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E4DFBF-A057-43AA-B201-7FE016F0E184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804AC3-DB64-40F4-8E74-3334FDC59ED1}">
      <dgm:prSet phldrT="[Text]" custT="1"/>
      <dgm:spPr/>
      <dgm:t>
        <a:bodyPr/>
        <a:lstStyle/>
        <a:p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Virtual </a:t>
          </a:r>
          <a:r>
            <a:rPr lang="en-US" sz="1200" b="1" dirty="0" err="1">
              <a:solidFill>
                <a:srgbClr val="FFFF00"/>
              </a:solidFill>
              <a:latin typeface="Mulish" pitchFamily="2" charset="0"/>
            </a:rPr>
            <a:t>Acc.No</a:t>
          </a:r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./ ID </a:t>
          </a:r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is the combination of </a:t>
          </a:r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CLIENT CODE + PAYER ID</a:t>
          </a:r>
          <a:endParaRPr lang="en-US" sz="1200" dirty="0">
            <a:solidFill>
              <a:srgbClr val="FFFF00"/>
            </a:solidFill>
            <a:latin typeface="Mulish" pitchFamily="2" charset="0"/>
          </a:endParaRPr>
        </a:p>
      </dgm:t>
    </dgm:pt>
    <dgm:pt modelId="{47706E57-2104-4707-A5DE-74BBC163DBD9}" type="parTrans" cxnId="{85C8D652-F205-487B-89CC-61627375D038}">
      <dgm:prSet/>
      <dgm:spPr/>
      <dgm:t>
        <a:bodyPr/>
        <a:lstStyle/>
        <a:p>
          <a:endParaRPr lang="en-US"/>
        </a:p>
      </dgm:t>
    </dgm:pt>
    <dgm:pt modelId="{B13114BB-2DE5-4A8D-B66C-5BB7FFC05F19}" type="sibTrans" cxnId="{85C8D652-F205-487B-89CC-61627375D038}">
      <dgm:prSet/>
      <dgm:spPr/>
      <dgm:t>
        <a:bodyPr/>
        <a:lstStyle/>
        <a:p>
          <a:endParaRPr lang="en-US"/>
        </a:p>
      </dgm:t>
    </dgm:pt>
    <dgm:pt modelId="{61E7A4D9-E56C-4C32-A0C3-F4E764E06023}">
      <dgm:prSet phldrT="[Text]" custT="1"/>
      <dgm:spPr/>
      <dgm:t>
        <a:bodyPr/>
        <a:lstStyle/>
        <a:p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Client Code – </a:t>
          </a:r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alphabets / alphanumeric </a:t>
          </a:r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and it can be of </a:t>
          </a:r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3 or 4 or 6 </a:t>
          </a:r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characters. </a:t>
          </a:r>
          <a:br>
            <a:rPr lang="en-US" sz="1200" b="1" dirty="0">
              <a:solidFill>
                <a:schemeClr val="bg1"/>
              </a:solidFill>
              <a:latin typeface="Mulish" pitchFamily="2" charset="0"/>
            </a:rPr>
          </a:br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Numeric Client code is not allowed.</a:t>
          </a:r>
          <a:endParaRPr lang="en-US" sz="1200" dirty="0">
            <a:latin typeface="Mulish" pitchFamily="2" charset="0"/>
          </a:endParaRPr>
        </a:p>
      </dgm:t>
    </dgm:pt>
    <dgm:pt modelId="{4F88B19B-DA7E-4B10-B8D3-B58A1EBB7A29}" type="parTrans" cxnId="{514F471B-DDE0-4C11-8FB4-31899170405E}">
      <dgm:prSet/>
      <dgm:spPr/>
      <dgm:t>
        <a:bodyPr/>
        <a:lstStyle/>
        <a:p>
          <a:endParaRPr lang="en-US"/>
        </a:p>
      </dgm:t>
    </dgm:pt>
    <dgm:pt modelId="{F81BCB18-C0C8-4CC0-A3B7-2EB266501AA5}" type="sibTrans" cxnId="{514F471B-DDE0-4C11-8FB4-31899170405E}">
      <dgm:prSet/>
      <dgm:spPr/>
      <dgm:t>
        <a:bodyPr/>
        <a:lstStyle/>
        <a:p>
          <a:endParaRPr lang="en-US"/>
        </a:p>
      </dgm:t>
    </dgm:pt>
    <dgm:pt modelId="{502115B9-7B2F-4276-BF64-141F44DF61EC}">
      <dgm:prSet custT="1"/>
      <dgm:spPr/>
      <dgm:t>
        <a:bodyPr/>
        <a:lstStyle/>
        <a:p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IFSC Code will be ICIC0000</a:t>
          </a:r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103</a:t>
          </a:r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, ICIC0000</a:t>
          </a:r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104</a:t>
          </a:r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 or ICIC000</a:t>
          </a:r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106</a:t>
          </a:r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 </a:t>
          </a:r>
          <a:r>
            <a:rPr lang="en-US" sz="1200" b="1" u="sng" dirty="0">
              <a:solidFill>
                <a:schemeClr val="bg1"/>
              </a:solidFill>
              <a:latin typeface="Mulish" pitchFamily="2" charset="0"/>
            </a:rPr>
            <a:t>basis client code character length </a:t>
          </a:r>
          <a:endParaRPr lang="en-US" sz="1200" u="sng" dirty="0">
            <a:latin typeface="Mulish" pitchFamily="2" charset="0"/>
          </a:endParaRPr>
        </a:p>
      </dgm:t>
    </dgm:pt>
    <dgm:pt modelId="{7565A174-9708-416B-9C04-20176005BEC5}" type="parTrans" cxnId="{6466F03B-5446-4AC7-8DC2-5304678DE7FA}">
      <dgm:prSet/>
      <dgm:spPr/>
      <dgm:t>
        <a:bodyPr/>
        <a:lstStyle/>
        <a:p>
          <a:endParaRPr lang="en-US"/>
        </a:p>
      </dgm:t>
    </dgm:pt>
    <dgm:pt modelId="{5B868D2F-5EE3-4204-BDF6-5D9D9A8C9558}" type="sibTrans" cxnId="{6466F03B-5446-4AC7-8DC2-5304678DE7FA}">
      <dgm:prSet/>
      <dgm:spPr/>
      <dgm:t>
        <a:bodyPr/>
        <a:lstStyle/>
        <a:p>
          <a:endParaRPr lang="en-US"/>
        </a:p>
      </dgm:t>
    </dgm:pt>
    <dgm:pt modelId="{5F7380B7-EDC8-4B73-A379-9D370EB54500}">
      <dgm:prSet phldrT="[Text]" custT="1"/>
      <dgm:spPr/>
      <dgm:t>
        <a:bodyPr/>
        <a:lstStyle/>
        <a:p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Virtual </a:t>
          </a:r>
          <a:r>
            <a:rPr lang="en-US" sz="1200" b="1" dirty="0" err="1">
              <a:solidFill>
                <a:srgbClr val="FFFF00"/>
              </a:solidFill>
              <a:latin typeface="Mulish" pitchFamily="2" charset="0"/>
            </a:rPr>
            <a:t>Acc.No</a:t>
          </a:r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./ ID </a:t>
          </a:r>
          <a:r>
            <a:rPr lang="en-US" sz="1200" b="1" dirty="0">
              <a:solidFill>
                <a:schemeClr val="bg1"/>
              </a:solidFill>
              <a:latin typeface="Mulish" pitchFamily="2" charset="0"/>
            </a:rPr>
            <a:t>will act as an alias for the Merchant’s /Corporate </a:t>
          </a:r>
          <a:r>
            <a:rPr lang="en-US" sz="1200" b="1" dirty="0">
              <a:solidFill>
                <a:srgbClr val="FFFF00"/>
              </a:solidFill>
              <a:latin typeface="Mulish" pitchFamily="2" charset="0"/>
            </a:rPr>
            <a:t>Current Account Number</a:t>
          </a:r>
          <a:endParaRPr lang="en-US" sz="1200" dirty="0">
            <a:solidFill>
              <a:srgbClr val="FFFF00"/>
            </a:solidFill>
            <a:latin typeface="Mulish" pitchFamily="2" charset="0"/>
          </a:endParaRPr>
        </a:p>
      </dgm:t>
    </dgm:pt>
    <dgm:pt modelId="{C49C4509-2057-4772-9D7A-06C14D2F6D08}" type="parTrans" cxnId="{6725D6B9-6987-4936-A60A-88E454FE2386}">
      <dgm:prSet/>
      <dgm:spPr/>
      <dgm:t>
        <a:bodyPr/>
        <a:lstStyle/>
        <a:p>
          <a:endParaRPr lang="en-IN"/>
        </a:p>
      </dgm:t>
    </dgm:pt>
    <dgm:pt modelId="{002833E6-1801-4252-BC5B-0DD767F94416}" type="sibTrans" cxnId="{6725D6B9-6987-4936-A60A-88E454FE2386}">
      <dgm:prSet/>
      <dgm:spPr/>
      <dgm:t>
        <a:bodyPr/>
        <a:lstStyle/>
        <a:p>
          <a:endParaRPr lang="en-IN"/>
        </a:p>
      </dgm:t>
    </dgm:pt>
    <dgm:pt modelId="{30C35A2E-E51C-40CD-AD9F-E8A83487341C}">
      <dgm:prSet custT="1"/>
      <dgm:spPr/>
      <dgm:t>
        <a:bodyPr/>
        <a:lstStyle/>
        <a:p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Payer id 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can be anything. Payer’s mobile number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OR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 Invoice no.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OR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 Challan no.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OR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 any random number of client’s/ merchant’s choice.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Client code &amp; IFSC 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will be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fixed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 value</a:t>
          </a:r>
        </a:p>
      </dgm:t>
    </dgm:pt>
    <dgm:pt modelId="{7947A441-6FE7-494E-AC15-315442F5C261}" type="parTrans" cxnId="{3014D931-91B8-4606-8212-85E7E1A017D3}">
      <dgm:prSet/>
      <dgm:spPr/>
      <dgm:t>
        <a:bodyPr/>
        <a:lstStyle/>
        <a:p>
          <a:endParaRPr lang="en-IN"/>
        </a:p>
      </dgm:t>
    </dgm:pt>
    <dgm:pt modelId="{02CF8867-AB6A-4728-B0A9-687774CE78A0}" type="sibTrans" cxnId="{3014D931-91B8-4606-8212-85E7E1A017D3}">
      <dgm:prSet/>
      <dgm:spPr/>
      <dgm:t>
        <a:bodyPr/>
        <a:lstStyle/>
        <a:p>
          <a:endParaRPr lang="en-IN"/>
        </a:p>
      </dgm:t>
    </dgm:pt>
    <dgm:pt modelId="{C4FC44D0-36ED-42B1-933B-34BEEC486F70}" type="pres">
      <dgm:prSet presAssocID="{7DE4DFBF-A057-43AA-B201-7FE016F0E184}" presName="linear" presStyleCnt="0">
        <dgm:presLayoutVars>
          <dgm:dir/>
          <dgm:animLvl val="lvl"/>
          <dgm:resizeHandles val="exact"/>
        </dgm:presLayoutVars>
      </dgm:prSet>
      <dgm:spPr/>
    </dgm:pt>
    <dgm:pt modelId="{504872A4-49BA-4800-88CB-99260568C74A}" type="pres">
      <dgm:prSet presAssocID="{64804AC3-DB64-40F4-8E74-3334FDC59ED1}" presName="parentLin" presStyleCnt="0"/>
      <dgm:spPr/>
    </dgm:pt>
    <dgm:pt modelId="{6BC3C839-DF81-4F4E-AAAB-6719784376D5}" type="pres">
      <dgm:prSet presAssocID="{64804AC3-DB64-40F4-8E74-3334FDC59ED1}" presName="parentLeftMargin" presStyleLbl="node1" presStyleIdx="0" presStyleCnt="5"/>
      <dgm:spPr/>
    </dgm:pt>
    <dgm:pt modelId="{6717FF46-1014-4B1F-B283-A25CFEA8A350}" type="pres">
      <dgm:prSet presAssocID="{64804AC3-DB64-40F4-8E74-3334FDC59ED1}" presName="parentText" presStyleLbl="node1" presStyleIdx="0" presStyleCnt="5" custScaleX="122983" custScaleY="90909">
        <dgm:presLayoutVars>
          <dgm:chMax val="0"/>
          <dgm:bulletEnabled val="1"/>
        </dgm:presLayoutVars>
      </dgm:prSet>
      <dgm:spPr/>
    </dgm:pt>
    <dgm:pt modelId="{09B1946F-C0CA-45DD-92CD-0516EE88477E}" type="pres">
      <dgm:prSet presAssocID="{64804AC3-DB64-40F4-8E74-3334FDC59ED1}" presName="negativeSpace" presStyleCnt="0"/>
      <dgm:spPr/>
    </dgm:pt>
    <dgm:pt modelId="{E06E37BB-2575-4850-A59A-6A5B488BBA70}" type="pres">
      <dgm:prSet presAssocID="{64804AC3-DB64-40F4-8E74-3334FDC59ED1}" presName="childText" presStyleLbl="conFgAcc1" presStyleIdx="0" presStyleCnt="5">
        <dgm:presLayoutVars>
          <dgm:bulletEnabled val="1"/>
        </dgm:presLayoutVars>
      </dgm:prSet>
      <dgm:spPr/>
    </dgm:pt>
    <dgm:pt modelId="{6961783E-36B0-413D-82B2-DF6D718196E4}" type="pres">
      <dgm:prSet presAssocID="{B13114BB-2DE5-4A8D-B66C-5BB7FFC05F19}" presName="spaceBetweenRectangles" presStyleCnt="0"/>
      <dgm:spPr/>
    </dgm:pt>
    <dgm:pt modelId="{1DAD9C80-546A-4B70-89A4-948BBA79BC96}" type="pres">
      <dgm:prSet presAssocID="{5F7380B7-EDC8-4B73-A379-9D370EB54500}" presName="parentLin" presStyleCnt="0"/>
      <dgm:spPr/>
    </dgm:pt>
    <dgm:pt modelId="{7E0D61D5-62F0-4387-901A-CE581A5F2FBE}" type="pres">
      <dgm:prSet presAssocID="{5F7380B7-EDC8-4B73-A379-9D370EB54500}" presName="parentLeftMargin" presStyleLbl="node1" presStyleIdx="0" presStyleCnt="5" custScaleX="111786"/>
      <dgm:spPr/>
    </dgm:pt>
    <dgm:pt modelId="{C85DCA86-EFCA-4E25-80CF-B3349D2E0484}" type="pres">
      <dgm:prSet presAssocID="{5F7380B7-EDC8-4B73-A379-9D370EB54500}" presName="parentText" presStyleLbl="node1" presStyleIdx="1" presStyleCnt="5" custScaleX="123428">
        <dgm:presLayoutVars>
          <dgm:chMax val="0"/>
          <dgm:bulletEnabled val="1"/>
        </dgm:presLayoutVars>
      </dgm:prSet>
      <dgm:spPr/>
    </dgm:pt>
    <dgm:pt modelId="{3EDB07EB-0022-46A1-A09A-382DAFF37171}" type="pres">
      <dgm:prSet presAssocID="{5F7380B7-EDC8-4B73-A379-9D370EB54500}" presName="negativeSpace" presStyleCnt="0"/>
      <dgm:spPr/>
    </dgm:pt>
    <dgm:pt modelId="{8251DFAE-D0FE-4A05-9E8A-317FD3E2168E}" type="pres">
      <dgm:prSet presAssocID="{5F7380B7-EDC8-4B73-A379-9D370EB54500}" presName="childText" presStyleLbl="conFgAcc1" presStyleIdx="1" presStyleCnt="5">
        <dgm:presLayoutVars>
          <dgm:bulletEnabled val="1"/>
        </dgm:presLayoutVars>
      </dgm:prSet>
      <dgm:spPr/>
    </dgm:pt>
    <dgm:pt modelId="{D317AE8B-C9C9-4207-993D-1B2AC76AF1A5}" type="pres">
      <dgm:prSet presAssocID="{002833E6-1801-4252-BC5B-0DD767F94416}" presName="spaceBetweenRectangles" presStyleCnt="0"/>
      <dgm:spPr/>
    </dgm:pt>
    <dgm:pt modelId="{B0B9A91F-6EC4-4181-90BA-4EEFBB651794}" type="pres">
      <dgm:prSet presAssocID="{61E7A4D9-E56C-4C32-A0C3-F4E764E06023}" presName="parentLin" presStyleCnt="0"/>
      <dgm:spPr/>
    </dgm:pt>
    <dgm:pt modelId="{FA14E6D3-D243-4F7E-9F42-EC37390A55AA}" type="pres">
      <dgm:prSet presAssocID="{61E7A4D9-E56C-4C32-A0C3-F4E764E06023}" presName="parentLeftMargin" presStyleLbl="node1" presStyleIdx="1" presStyleCnt="5"/>
      <dgm:spPr/>
    </dgm:pt>
    <dgm:pt modelId="{ED75B40D-8EC3-4453-BF4E-DED65A817FE4}" type="pres">
      <dgm:prSet presAssocID="{61E7A4D9-E56C-4C32-A0C3-F4E764E06023}" presName="parentText" presStyleLbl="node1" presStyleIdx="2" presStyleCnt="5" custScaleX="123449" custScaleY="165846">
        <dgm:presLayoutVars>
          <dgm:chMax val="0"/>
          <dgm:bulletEnabled val="1"/>
        </dgm:presLayoutVars>
      </dgm:prSet>
      <dgm:spPr/>
    </dgm:pt>
    <dgm:pt modelId="{9170F380-8978-4F1F-A371-82407C336024}" type="pres">
      <dgm:prSet presAssocID="{61E7A4D9-E56C-4C32-A0C3-F4E764E06023}" presName="negativeSpace" presStyleCnt="0"/>
      <dgm:spPr/>
    </dgm:pt>
    <dgm:pt modelId="{1ADE50EF-72BE-497B-9A01-4E9F09FA68EF}" type="pres">
      <dgm:prSet presAssocID="{61E7A4D9-E56C-4C32-A0C3-F4E764E06023}" presName="childText" presStyleLbl="conFgAcc1" presStyleIdx="2" presStyleCnt="5">
        <dgm:presLayoutVars>
          <dgm:bulletEnabled val="1"/>
        </dgm:presLayoutVars>
      </dgm:prSet>
      <dgm:spPr/>
    </dgm:pt>
    <dgm:pt modelId="{05C1F84E-9B8E-4A88-A31B-E1C206FE9A8C}" type="pres">
      <dgm:prSet presAssocID="{F81BCB18-C0C8-4CC0-A3B7-2EB266501AA5}" presName="spaceBetweenRectangles" presStyleCnt="0"/>
      <dgm:spPr/>
    </dgm:pt>
    <dgm:pt modelId="{6010C2D4-200B-4B5C-ABFB-2D9338609B9B}" type="pres">
      <dgm:prSet presAssocID="{502115B9-7B2F-4276-BF64-141F44DF61EC}" presName="parentLin" presStyleCnt="0"/>
      <dgm:spPr/>
    </dgm:pt>
    <dgm:pt modelId="{C0B9B8F0-8299-454F-AC19-4FA360098AE8}" type="pres">
      <dgm:prSet presAssocID="{502115B9-7B2F-4276-BF64-141F44DF61EC}" presName="parentLeftMargin" presStyleLbl="node1" presStyleIdx="2" presStyleCnt="5"/>
      <dgm:spPr/>
    </dgm:pt>
    <dgm:pt modelId="{25C9CA51-3152-42DE-98CC-AA091CE814A5}" type="pres">
      <dgm:prSet presAssocID="{502115B9-7B2F-4276-BF64-141F44DF61EC}" presName="parentText" presStyleLbl="node1" presStyleIdx="3" presStyleCnt="5" custScaleX="122944" custScaleY="89241">
        <dgm:presLayoutVars>
          <dgm:chMax val="0"/>
          <dgm:bulletEnabled val="1"/>
        </dgm:presLayoutVars>
      </dgm:prSet>
      <dgm:spPr/>
    </dgm:pt>
    <dgm:pt modelId="{12D313B0-E058-4BDB-95CA-D1975C613135}" type="pres">
      <dgm:prSet presAssocID="{502115B9-7B2F-4276-BF64-141F44DF61EC}" presName="negativeSpace" presStyleCnt="0"/>
      <dgm:spPr/>
    </dgm:pt>
    <dgm:pt modelId="{074D6CEB-431F-46F6-BB70-759A701A6780}" type="pres">
      <dgm:prSet presAssocID="{502115B9-7B2F-4276-BF64-141F44DF61EC}" presName="childText" presStyleLbl="conFgAcc1" presStyleIdx="3" presStyleCnt="5">
        <dgm:presLayoutVars>
          <dgm:bulletEnabled val="1"/>
        </dgm:presLayoutVars>
      </dgm:prSet>
      <dgm:spPr/>
    </dgm:pt>
    <dgm:pt modelId="{3142A173-00B1-43E6-84B7-4B1AC713AC65}" type="pres">
      <dgm:prSet presAssocID="{5B868D2F-5EE3-4204-BDF6-5D9D9A8C9558}" presName="spaceBetweenRectangles" presStyleCnt="0"/>
      <dgm:spPr/>
    </dgm:pt>
    <dgm:pt modelId="{C86313C6-72A8-44D3-8DF6-EAFA7407E7B1}" type="pres">
      <dgm:prSet presAssocID="{30C35A2E-E51C-40CD-AD9F-E8A83487341C}" presName="parentLin" presStyleCnt="0"/>
      <dgm:spPr/>
    </dgm:pt>
    <dgm:pt modelId="{61E9286F-D45B-4B13-B05D-C4942D72888C}" type="pres">
      <dgm:prSet presAssocID="{30C35A2E-E51C-40CD-AD9F-E8A83487341C}" presName="parentLeftMargin" presStyleLbl="node1" presStyleIdx="3" presStyleCnt="5" custScaleX="112226"/>
      <dgm:spPr/>
    </dgm:pt>
    <dgm:pt modelId="{159E47C9-19D2-4528-B75E-E66CEC1B180A}" type="pres">
      <dgm:prSet presAssocID="{30C35A2E-E51C-40CD-AD9F-E8A83487341C}" presName="parentText" presStyleLbl="node1" presStyleIdx="4" presStyleCnt="5" custScaleX="122677" custScaleY="166240">
        <dgm:presLayoutVars>
          <dgm:chMax val="0"/>
          <dgm:bulletEnabled val="1"/>
        </dgm:presLayoutVars>
      </dgm:prSet>
      <dgm:spPr/>
    </dgm:pt>
    <dgm:pt modelId="{8B1690EE-ED23-4E48-B2CF-F71F78426D0E}" type="pres">
      <dgm:prSet presAssocID="{30C35A2E-E51C-40CD-AD9F-E8A83487341C}" presName="negativeSpace" presStyleCnt="0"/>
      <dgm:spPr/>
    </dgm:pt>
    <dgm:pt modelId="{183D7EB6-7E48-4F01-A161-99F8F9A3C013}" type="pres">
      <dgm:prSet presAssocID="{30C35A2E-E51C-40CD-AD9F-E8A83487341C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14F471B-DDE0-4C11-8FB4-31899170405E}" srcId="{7DE4DFBF-A057-43AA-B201-7FE016F0E184}" destId="{61E7A4D9-E56C-4C32-A0C3-F4E764E06023}" srcOrd="2" destOrd="0" parTransId="{4F88B19B-DA7E-4B10-B8D3-B58A1EBB7A29}" sibTransId="{F81BCB18-C0C8-4CC0-A3B7-2EB266501AA5}"/>
    <dgm:cxn modelId="{9A6A561C-CEC4-4FB7-AD24-A7350C94CB13}" type="presOf" srcId="{5F7380B7-EDC8-4B73-A379-9D370EB54500}" destId="{C85DCA86-EFCA-4E25-80CF-B3349D2E0484}" srcOrd="1" destOrd="0" presId="urn:microsoft.com/office/officeart/2005/8/layout/list1"/>
    <dgm:cxn modelId="{3014D931-91B8-4606-8212-85E7E1A017D3}" srcId="{7DE4DFBF-A057-43AA-B201-7FE016F0E184}" destId="{30C35A2E-E51C-40CD-AD9F-E8A83487341C}" srcOrd="4" destOrd="0" parTransId="{7947A441-6FE7-494E-AC15-315442F5C261}" sibTransId="{02CF8867-AB6A-4728-B0A9-687774CE78A0}"/>
    <dgm:cxn modelId="{7136F734-D719-4D0E-BC36-33F468D3606B}" type="presOf" srcId="{61E7A4D9-E56C-4C32-A0C3-F4E764E06023}" destId="{FA14E6D3-D243-4F7E-9F42-EC37390A55AA}" srcOrd="0" destOrd="0" presId="urn:microsoft.com/office/officeart/2005/8/layout/list1"/>
    <dgm:cxn modelId="{6466F03B-5446-4AC7-8DC2-5304678DE7FA}" srcId="{7DE4DFBF-A057-43AA-B201-7FE016F0E184}" destId="{502115B9-7B2F-4276-BF64-141F44DF61EC}" srcOrd="3" destOrd="0" parTransId="{7565A174-9708-416B-9C04-20176005BEC5}" sibTransId="{5B868D2F-5EE3-4204-BDF6-5D9D9A8C9558}"/>
    <dgm:cxn modelId="{0018873F-5332-4D6E-852C-834269D989D2}" type="presOf" srcId="{30C35A2E-E51C-40CD-AD9F-E8A83487341C}" destId="{61E9286F-D45B-4B13-B05D-C4942D72888C}" srcOrd="0" destOrd="0" presId="urn:microsoft.com/office/officeart/2005/8/layout/list1"/>
    <dgm:cxn modelId="{85C8D652-F205-487B-89CC-61627375D038}" srcId="{7DE4DFBF-A057-43AA-B201-7FE016F0E184}" destId="{64804AC3-DB64-40F4-8E74-3334FDC59ED1}" srcOrd="0" destOrd="0" parTransId="{47706E57-2104-4707-A5DE-74BBC163DBD9}" sibTransId="{B13114BB-2DE5-4A8D-B66C-5BB7FFC05F19}"/>
    <dgm:cxn modelId="{422C9E7E-81BE-4B78-B318-39AB4E7E9124}" type="presOf" srcId="{30C35A2E-E51C-40CD-AD9F-E8A83487341C}" destId="{159E47C9-19D2-4528-B75E-E66CEC1B180A}" srcOrd="1" destOrd="0" presId="urn:microsoft.com/office/officeart/2005/8/layout/list1"/>
    <dgm:cxn modelId="{EFF3A6A6-B9A5-4521-857A-F8549442304B}" type="presOf" srcId="{7DE4DFBF-A057-43AA-B201-7FE016F0E184}" destId="{C4FC44D0-36ED-42B1-933B-34BEEC486F70}" srcOrd="0" destOrd="0" presId="urn:microsoft.com/office/officeart/2005/8/layout/list1"/>
    <dgm:cxn modelId="{6595FBA9-1688-4094-B681-BF62F114931B}" type="presOf" srcId="{502115B9-7B2F-4276-BF64-141F44DF61EC}" destId="{C0B9B8F0-8299-454F-AC19-4FA360098AE8}" srcOrd="0" destOrd="0" presId="urn:microsoft.com/office/officeart/2005/8/layout/list1"/>
    <dgm:cxn modelId="{6725D6B9-6987-4936-A60A-88E454FE2386}" srcId="{7DE4DFBF-A057-43AA-B201-7FE016F0E184}" destId="{5F7380B7-EDC8-4B73-A379-9D370EB54500}" srcOrd="1" destOrd="0" parTransId="{C49C4509-2057-4772-9D7A-06C14D2F6D08}" sibTransId="{002833E6-1801-4252-BC5B-0DD767F94416}"/>
    <dgm:cxn modelId="{B71D25CB-33C6-4FF7-9C31-B93E8887B6B8}" type="presOf" srcId="{64804AC3-DB64-40F4-8E74-3334FDC59ED1}" destId="{6BC3C839-DF81-4F4E-AAAB-6719784376D5}" srcOrd="0" destOrd="0" presId="urn:microsoft.com/office/officeart/2005/8/layout/list1"/>
    <dgm:cxn modelId="{740C93D3-4DBC-4065-885E-BAE7C4A6E38A}" type="presOf" srcId="{5F7380B7-EDC8-4B73-A379-9D370EB54500}" destId="{7E0D61D5-62F0-4387-901A-CE581A5F2FBE}" srcOrd="0" destOrd="0" presId="urn:microsoft.com/office/officeart/2005/8/layout/list1"/>
    <dgm:cxn modelId="{48181FE3-8673-4213-AE8E-F8E990A0ED5F}" type="presOf" srcId="{64804AC3-DB64-40F4-8E74-3334FDC59ED1}" destId="{6717FF46-1014-4B1F-B283-A25CFEA8A350}" srcOrd="1" destOrd="0" presId="urn:microsoft.com/office/officeart/2005/8/layout/list1"/>
    <dgm:cxn modelId="{BA3792E5-D670-4FF3-BF94-B94A953A38DE}" type="presOf" srcId="{61E7A4D9-E56C-4C32-A0C3-F4E764E06023}" destId="{ED75B40D-8EC3-4453-BF4E-DED65A817FE4}" srcOrd="1" destOrd="0" presId="urn:microsoft.com/office/officeart/2005/8/layout/list1"/>
    <dgm:cxn modelId="{7901AAE9-B03D-41D5-9C10-6600663C027B}" type="presOf" srcId="{502115B9-7B2F-4276-BF64-141F44DF61EC}" destId="{25C9CA51-3152-42DE-98CC-AA091CE814A5}" srcOrd="1" destOrd="0" presId="urn:microsoft.com/office/officeart/2005/8/layout/list1"/>
    <dgm:cxn modelId="{28A84A6A-294F-4976-AD14-7C29F5D2E3E9}" type="presParOf" srcId="{C4FC44D0-36ED-42B1-933B-34BEEC486F70}" destId="{504872A4-49BA-4800-88CB-99260568C74A}" srcOrd="0" destOrd="0" presId="urn:microsoft.com/office/officeart/2005/8/layout/list1"/>
    <dgm:cxn modelId="{A11E0E3F-DA46-45FE-925A-ED8542D799B0}" type="presParOf" srcId="{504872A4-49BA-4800-88CB-99260568C74A}" destId="{6BC3C839-DF81-4F4E-AAAB-6719784376D5}" srcOrd="0" destOrd="0" presId="urn:microsoft.com/office/officeart/2005/8/layout/list1"/>
    <dgm:cxn modelId="{A9A7448B-920D-4CDD-838D-06EC34306573}" type="presParOf" srcId="{504872A4-49BA-4800-88CB-99260568C74A}" destId="{6717FF46-1014-4B1F-B283-A25CFEA8A350}" srcOrd="1" destOrd="0" presId="urn:microsoft.com/office/officeart/2005/8/layout/list1"/>
    <dgm:cxn modelId="{24694683-AA1D-463E-8208-A3598C001C49}" type="presParOf" srcId="{C4FC44D0-36ED-42B1-933B-34BEEC486F70}" destId="{09B1946F-C0CA-45DD-92CD-0516EE88477E}" srcOrd="1" destOrd="0" presId="urn:microsoft.com/office/officeart/2005/8/layout/list1"/>
    <dgm:cxn modelId="{801750E5-E7A8-4B4D-ADF6-31E12A704E22}" type="presParOf" srcId="{C4FC44D0-36ED-42B1-933B-34BEEC486F70}" destId="{E06E37BB-2575-4850-A59A-6A5B488BBA70}" srcOrd="2" destOrd="0" presId="urn:microsoft.com/office/officeart/2005/8/layout/list1"/>
    <dgm:cxn modelId="{465C7E09-32C2-43C1-9986-BD2585989008}" type="presParOf" srcId="{C4FC44D0-36ED-42B1-933B-34BEEC486F70}" destId="{6961783E-36B0-413D-82B2-DF6D718196E4}" srcOrd="3" destOrd="0" presId="urn:microsoft.com/office/officeart/2005/8/layout/list1"/>
    <dgm:cxn modelId="{52A89663-D821-4A01-A3F8-495D79D38945}" type="presParOf" srcId="{C4FC44D0-36ED-42B1-933B-34BEEC486F70}" destId="{1DAD9C80-546A-4B70-89A4-948BBA79BC96}" srcOrd="4" destOrd="0" presId="urn:microsoft.com/office/officeart/2005/8/layout/list1"/>
    <dgm:cxn modelId="{0DD0D944-B2D0-4D06-AE55-67D708A861A6}" type="presParOf" srcId="{1DAD9C80-546A-4B70-89A4-948BBA79BC96}" destId="{7E0D61D5-62F0-4387-901A-CE581A5F2FBE}" srcOrd="0" destOrd="0" presId="urn:microsoft.com/office/officeart/2005/8/layout/list1"/>
    <dgm:cxn modelId="{0D3062D4-C6DD-4152-A5E3-86702DDFB179}" type="presParOf" srcId="{1DAD9C80-546A-4B70-89A4-948BBA79BC96}" destId="{C85DCA86-EFCA-4E25-80CF-B3349D2E0484}" srcOrd="1" destOrd="0" presId="urn:microsoft.com/office/officeart/2005/8/layout/list1"/>
    <dgm:cxn modelId="{614CFE27-0BC4-4BE4-8C67-4489D626D20E}" type="presParOf" srcId="{C4FC44D0-36ED-42B1-933B-34BEEC486F70}" destId="{3EDB07EB-0022-46A1-A09A-382DAFF37171}" srcOrd="5" destOrd="0" presId="urn:microsoft.com/office/officeart/2005/8/layout/list1"/>
    <dgm:cxn modelId="{D52F5246-E4AF-4093-8ECE-0567055B9DB2}" type="presParOf" srcId="{C4FC44D0-36ED-42B1-933B-34BEEC486F70}" destId="{8251DFAE-D0FE-4A05-9E8A-317FD3E2168E}" srcOrd="6" destOrd="0" presId="urn:microsoft.com/office/officeart/2005/8/layout/list1"/>
    <dgm:cxn modelId="{B2A5254C-E658-4F7F-96A5-53F32A365930}" type="presParOf" srcId="{C4FC44D0-36ED-42B1-933B-34BEEC486F70}" destId="{D317AE8B-C9C9-4207-993D-1B2AC76AF1A5}" srcOrd="7" destOrd="0" presId="urn:microsoft.com/office/officeart/2005/8/layout/list1"/>
    <dgm:cxn modelId="{DD6926A4-2637-4065-ACCB-B0F34528E08C}" type="presParOf" srcId="{C4FC44D0-36ED-42B1-933B-34BEEC486F70}" destId="{B0B9A91F-6EC4-4181-90BA-4EEFBB651794}" srcOrd="8" destOrd="0" presId="urn:microsoft.com/office/officeart/2005/8/layout/list1"/>
    <dgm:cxn modelId="{356CC278-8B43-40CB-8976-385546CF9D03}" type="presParOf" srcId="{B0B9A91F-6EC4-4181-90BA-4EEFBB651794}" destId="{FA14E6D3-D243-4F7E-9F42-EC37390A55AA}" srcOrd="0" destOrd="0" presId="urn:microsoft.com/office/officeart/2005/8/layout/list1"/>
    <dgm:cxn modelId="{60B16138-46D9-48C2-A93E-8FC6EC5424CE}" type="presParOf" srcId="{B0B9A91F-6EC4-4181-90BA-4EEFBB651794}" destId="{ED75B40D-8EC3-4453-BF4E-DED65A817FE4}" srcOrd="1" destOrd="0" presId="urn:microsoft.com/office/officeart/2005/8/layout/list1"/>
    <dgm:cxn modelId="{C6E23596-9747-406D-89F3-26C9FC8D28B2}" type="presParOf" srcId="{C4FC44D0-36ED-42B1-933B-34BEEC486F70}" destId="{9170F380-8978-4F1F-A371-82407C336024}" srcOrd="9" destOrd="0" presId="urn:microsoft.com/office/officeart/2005/8/layout/list1"/>
    <dgm:cxn modelId="{4AF17F6E-CE94-4108-937C-B233A55CF282}" type="presParOf" srcId="{C4FC44D0-36ED-42B1-933B-34BEEC486F70}" destId="{1ADE50EF-72BE-497B-9A01-4E9F09FA68EF}" srcOrd="10" destOrd="0" presId="urn:microsoft.com/office/officeart/2005/8/layout/list1"/>
    <dgm:cxn modelId="{3350F056-6448-4B2F-8412-0D726ACF6AEA}" type="presParOf" srcId="{C4FC44D0-36ED-42B1-933B-34BEEC486F70}" destId="{05C1F84E-9B8E-4A88-A31B-E1C206FE9A8C}" srcOrd="11" destOrd="0" presId="urn:microsoft.com/office/officeart/2005/8/layout/list1"/>
    <dgm:cxn modelId="{B7113428-C37E-42FA-BA76-BF401DE17085}" type="presParOf" srcId="{C4FC44D0-36ED-42B1-933B-34BEEC486F70}" destId="{6010C2D4-200B-4B5C-ABFB-2D9338609B9B}" srcOrd="12" destOrd="0" presId="urn:microsoft.com/office/officeart/2005/8/layout/list1"/>
    <dgm:cxn modelId="{08181026-EB6C-4EAF-AB71-E3C87F708DD7}" type="presParOf" srcId="{6010C2D4-200B-4B5C-ABFB-2D9338609B9B}" destId="{C0B9B8F0-8299-454F-AC19-4FA360098AE8}" srcOrd="0" destOrd="0" presId="urn:microsoft.com/office/officeart/2005/8/layout/list1"/>
    <dgm:cxn modelId="{FF818416-BBC6-4D4B-875A-469D5E4D6499}" type="presParOf" srcId="{6010C2D4-200B-4B5C-ABFB-2D9338609B9B}" destId="{25C9CA51-3152-42DE-98CC-AA091CE814A5}" srcOrd="1" destOrd="0" presId="urn:microsoft.com/office/officeart/2005/8/layout/list1"/>
    <dgm:cxn modelId="{E495BF97-A8F9-429A-8825-2B79C89049AB}" type="presParOf" srcId="{C4FC44D0-36ED-42B1-933B-34BEEC486F70}" destId="{12D313B0-E058-4BDB-95CA-D1975C613135}" srcOrd="13" destOrd="0" presId="urn:microsoft.com/office/officeart/2005/8/layout/list1"/>
    <dgm:cxn modelId="{00BE409C-496F-4BE3-A49B-AEB12E8A026F}" type="presParOf" srcId="{C4FC44D0-36ED-42B1-933B-34BEEC486F70}" destId="{074D6CEB-431F-46F6-BB70-759A701A6780}" srcOrd="14" destOrd="0" presId="urn:microsoft.com/office/officeart/2005/8/layout/list1"/>
    <dgm:cxn modelId="{C5BBCF14-2D1D-4D4C-8E13-3223E4C4FCF1}" type="presParOf" srcId="{C4FC44D0-36ED-42B1-933B-34BEEC486F70}" destId="{3142A173-00B1-43E6-84B7-4B1AC713AC65}" srcOrd="15" destOrd="0" presId="urn:microsoft.com/office/officeart/2005/8/layout/list1"/>
    <dgm:cxn modelId="{51E62344-686C-4CCF-A59C-082AC75BEBB5}" type="presParOf" srcId="{C4FC44D0-36ED-42B1-933B-34BEEC486F70}" destId="{C86313C6-72A8-44D3-8DF6-EAFA7407E7B1}" srcOrd="16" destOrd="0" presId="urn:microsoft.com/office/officeart/2005/8/layout/list1"/>
    <dgm:cxn modelId="{3EB377CD-8B16-4CB1-9C29-629050E3650A}" type="presParOf" srcId="{C86313C6-72A8-44D3-8DF6-EAFA7407E7B1}" destId="{61E9286F-D45B-4B13-B05D-C4942D72888C}" srcOrd="0" destOrd="0" presId="urn:microsoft.com/office/officeart/2005/8/layout/list1"/>
    <dgm:cxn modelId="{9C315919-976D-4E24-97A0-F03E3855C797}" type="presParOf" srcId="{C86313C6-72A8-44D3-8DF6-EAFA7407E7B1}" destId="{159E47C9-19D2-4528-B75E-E66CEC1B180A}" srcOrd="1" destOrd="0" presId="urn:microsoft.com/office/officeart/2005/8/layout/list1"/>
    <dgm:cxn modelId="{4A6FA0C8-96D6-4526-9B8F-DA2C39862752}" type="presParOf" srcId="{C4FC44D0-36ED-42B1-933B-34BEEC486F70}" destId="{8B1690EE-ED23-4E48-B2CF-F71F78426D0E}" srcOrd="17" destOrd="0" presId="urn:microsoft.com/office/officeart/2005/8/layout/list1"/>
    <dgm:cxn modelId="{9CA2C421-FBD1-4F35-805E-1BFF824AFC68}" type="presParOf" srcId="{C4FC44D0-36ED-42B1-933B-34BEEC486F70}" destId="{183D7EB6-7E48-4F01-A161-99F8F9A3C013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E37BB-2575-4850-A59A-6A5B488BBA70}">
      <dsp:nvSpPr>
        <dsp:cNvPr id="0" name=""/>
        <dsp:cNvSpPr/>
      </dsp:nvSpPr>
      <dsp:spPr>
        <a:xfrm>
          <a:off x="0" y="221788"/>
          <a:ext cx="1145380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7FF46-1014-4B1F-B283-A25CFEA8A350}">
      <dsp:nvSpPr>
        <dsp:cNvPr id="0" name=""/>
        <dsp:cNvSpPr/>
      </dsp:nvSpPr>
      <dsp:spPr>
        <a:xfrm>
          <a:off x="572690" y="101024"/>
          <a:ext cx="9860364" cy="26836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049" tIns="0" rIns="3030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Virtual </a:t>
          </a:r>
          <a:r>
            <a:rPr lang="en-US" sz="1200" b="1" kern="1200" dirty="0" err="1">
              <a:solidFill>
                <a:srgbClr val="FFFF00"/>
              </a:solidFill>
              <a:latin typeface="Mulish" pitchFamily="2" charset="0"/>
            </a:rPr>
            <a:t>Acc.No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./ ID </a:t>
          </a: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is the combination of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CLIENT CODE + PAYER ID</a:t>
          </a:r>
          <a:endParaRPr lang="en-US" sz="1200" kern="1200" dirty="0">
            <a:solidFill>
              <a:srgbClr val="FFFF00"/>
            </a:solidFill>
            <a:latin typeface="Mulish" pitchFamily="2" charset="0"/>
          </a:endParaRPr>
        </a:p>
      </dsp:txBody>
      <dsp:txXfrm>
        <a:off x="585790" y="114124"/>
        <a:ext cx="9834164" cy="242163"/>
      </dsp:txXfrm>
    </dsp:sp>
    <dsp:sp modelId="{8251DFAE-D0FE-4A05-9E8A-317FD3E2168E}">
      <dsp:nvSpPr>
        <dsp:cNvPr id="0" name=""/>
        <dsp:cNvSpPr/>
      </dsp:nvSpPr>
      <dsp:spPr>
        <a:xfrm>
          <a:off x="0" y="675388"/>
          <a:ext cx="1145380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DCA86-EFCA-4E25-80CF-B3349D2E0484}">
      <dsp:nvSpPr>
        <dsp:cNvPr id="0" name=""/>
        <dsp:cNvSpPr/>
      </dsp:nvSpPr>
      <dsp:spPr>
        <a:xfrm>
          <a:off x="640187" y="527788"/>
          <a:ext cx="9896043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049" tIns="0" rIns="3030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Virtual </a:t>
          </a:r>
          <a:r>
            <a:rPr lang="en-US" sz="1200" b="1" kern="1200" dirty="0" err="1">
              <a:solidFill>
                <a:srgbClr val="FFFF00"/>
              </a:solidFill>
              <a:latin typeface="Mulish" pitchFamily="2" charset="0"/>
            </a:rPr>
            <a:t>Acc.No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./ ID </a:t>
          </a: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will act as an alias for the Merchant’s /Corporate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Current Account Number</a:t>
          </a:r>
          <a:endParaRPr lang="en-US" sz="1200" kern="1200" dirty="0">
            <a:solidFill>
              <a:srgbClr val="FFFF00"/>
            </a:solidFill>
            <a:latin typeface="Mulish" pitchFamily="2" charset="0"/>
          </a:endParaRPr>
        </a:p>
      </dsp:txBody>
      <dsp:txXfrm>
        <a:off x="654597" y="542198"/>
        <a:ext cx="9867223" cy="266380"/>
      </dsp:txXfrm>
    </dsp:sp>
    <dsp:sp modelId="{1ADE50EF-72BE-497B-9A01-4E9F09FA68EF}">
      <dsp:nvSpPr>
        <dsp:cNvPr id="0" name=""/>
        <dsp:cNvSpPr/>
      </dsp:nvSpPr>
      <dsp:spPr>
        <a:xfrm>
          <a:off x="0" y="1323365"/>
          <a:ext cx="1145380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5B40D-8EC3-4453-BF4E-DED65A817FE4}">
      <dsp:nvSpPr>
        <dsp:cNvPr id="0" name=""/>
        <dsp:cNvSpPr/>
      </dsp:nvSpPr>
      <dsp:spPr>
        <a:xfrm>
          <a:off x="572131" y="981388"/>
          <a:ext cx="9888061" cy="48957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049" tIns="0" rIns="3030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Client Code –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alphabets / alphanumeric </a:t>
          </a: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and it can be of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3 or 4 or 6 </a:t>
          </a: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characters. </a:t>
          </a:r>
          <a:br>
            <a:rPr lang="en-US" sz="1200" b="1" kern="1200" dirty="0">
              <a:solidFill>
                <a:schemeClr val="bg1"/>
              </a:solidFill>
              <a:latin typeface="Mulish" pitchFamily="2" charset="0"/>
            </a:rPr>
          </a:b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Numeric Client code is not allowed.</a:t>
          </a:r>
          <a:endParaRPr lang="en-US" sz="1200" kern="1200" dirty="0">
            <a:latin typeface="Mulish" pitchFamily="2" charset="0"/>
          </a:endParaRPr>
        </a:p>
      </dsp:txBody>
      <dsp:txXfrm>
        <a:off x="596030" y="1005287"/>
        <a:ext cx="9840263" cy="441779"/>
      </dsp:txXfrm>
    </dsp:sp>
    <dsp:sp modelId="{074D6CEB-431F-46F6-BB70-759A701A6780}">
      <dsp:nvSpPr>
        <dsp:cNvPr id="0" name=""/>
        <dsp:cNvSpPr/>
      </dsp:nvSpPr>
      <dsp:spPr>
        <a:xfrm>
          <a:off x="0" y="1745204"/>
          <a:ext cx="1145380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C9CA51-3152-42DE-98CC-AA091CE814A5}">
      <dsp:nvSpPr>
        <dsp:cNvPr id="0" name=""/>
        <dsp:cNvSpPr/>
      </dsp:nvSpPr>
      <dsp:spPr>
        <a:xfrm>
          <a:off x="572690" y="1629365"/>
          <a:ext cx="9857237" cy="263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049" tIns="0" rIns="3030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IFSC Code will be ICIC0000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103</a:t>
          </a: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, ICIC0000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104</a:t>
          </a: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 or ICIC000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</a:rPr>
            <a:t>106</a:t>
          </a:r>
          <a:r>
            <a:rPr lang="en-US" sz="1200" b="1" kern="1200" dirty="0">
              <a:solidFill>
                <a:schemeClr val="bg1"/>
              </a:solidFill>
              <a:latin typeface="Mulish" pitchFamily="2" charset="0"/>
            </a:rPr>
            <a:t> </a:t>
          </a:r>
          <a:r>
            <a:rPr lang="en-US" sz="1200" b="1" u="sng" kern="1200" dirty="0">
              <a:solidFill>
                <a:schemeClr val="bg1"/>
              </a:solidFill>
              <a:latin typeface="Mulish" pitchFamily="2" charset="0"/>
            </a:rPr>
            <a:t>basis client code character length </a:t>
          </a:r>
          <a:endParaRPr lang="en-US" sz="1200" u="sng" kern="1200" dirty="0">
            <a:latin typeface="Mulish" pitchFamily="2" charset="0"/>
          </a:endParaRPr>
        </a:p>
      </dsp:txBody>
      <dsp:txXfrm>
        <a:off x="585550" y="1642225"/>
        <a:ext cx="9831517" cy="237719"/>
      </dsp:txXfrm>
    </dsp:sp>
    <dsp:sp modelId="{183D7EB6-7E48-4F01-A161-99F8F9A3C013}">
      <dsp:nvSpPr>
        <dsp:cNvPr id="0" name=""/>
        <dsp:cNvSpPr/>
      </dsp:nvSpPr>
      <dsp:spPr>
        <a:xfrm>
          <a:off x="0" y="2394345"/>
          <a:ext cx="11453807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E47C9-19D2-4528-B75E-E66CEC1B180A}">
      <dsp:nvSpPr>
        <dsp:cNvPr id="0" name=""/>
        <dsp:cNvSpPr/>
      </dsp:nvSpPr>
      <dsp:spPr>
        <a:xfrm>
          <a:off x="642079" y="2051204"/>
          <a:ext cx="9826225" cy="490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3049" tIns="0" rIns="303049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Payer id 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can be anything. Payer’s mobile number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OR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 Invoice no.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OR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 Challan no.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OR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 any random number of client’s/ merchant’s choice.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Client code &amp; IFSC 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will be </a:t>
          </a:r>
          <a:r>
            <a:rPr lang="en-US" sz="1200" b="1" kern="1200" dirty="0">
              <a:solidFill>
                <a:srgbClr val="FFFF00"/>
              </a:solidFill>
              <a:latin typeface="Mulish" pitchFamily="2" charset="0"/>
              <a:ea typeface="+mn-ea"/>
              <a:cs typeface="+mn-cs"/>
            </a:rPr>
            <a:t>fixed</a:t>
          </a:r>
          <a:r>
            <a:rPr lang="en-US" sz="1200" b="1" kern="1200" dirty="0">
              <a:solidFill>
                <a:prstClr val="white"/>
              </a:solidFill>
              <a:latin typeface="Mulish" pitchFamily="2" charset="0"/>
              <a:ea typeface="+mn-ea"/>
              <a:cs typeface="+mn-cs"/>
            </a:rPr>
            <a:t> value</a:t>
          </a:r>
        </a:p>
      </dsp:txBody>
      <dsp:txXfrm>
        <a:off x="666035" y="2075160"/>
        <a:ext cx="9778313" cy="4428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DB405-049D-48E6-8B76-08ABC6404540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1A669-F7F6-4C90-8D2A-C889007C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1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5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3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1A669-F7F6-4C90-8D2A-C889007CBFD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70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A1A669-F7F6-4C90-8D2A-C889007CBF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861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A1A669-F7F6-4C90-8D2A-C889007CBF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65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504685" y="3316095"/>
            <a:ext cx="5765735" cy="125088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4800" b="1">
                <a:solidFill>
                  <a:srgbClr val="053C6D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5498892" y="4979403"/>
            <a:ext cx="5218693" cy="757767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97291E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 dirty="0"/>
              <a:t>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489851" y="5969004"/>
            <a:ext cx="2821388" cy="368021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000">
                <a:solidFill>
                  <a:srgbClr val="053C6D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504685" y="3316095"/>
            <a:ext cx="5765735" cy="125088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4800" b="1">
                <a:solidFill>
                  <a:srgbClr val="053C6D"/>
                </a:solidFill>
                <a:latin typeface="Zurich BT" panose="020B0603020202030204" pitchFamily="34" charset="0"/>
              </a:defRPr>
            </a:lvl1pPr>
          </a:lstStyle>
          <a:p>
            <a:r>
              <a:rPr lang="en-US" dirty="0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4" hasCustomPrompt="1"/>
          </p:nvPr>
        </p:nvSpPr>
        <p:spPr>
          <a:xfrm>
            <a:off x="6018212" y="2775393"/>
            <a:ext cx="5945505" cy="4118401"/>
          </a:xfrm>
          <a:custGeom>
            <a:avLst/>
            <a:gdLst>
              <a:gd name="connsiteX0" fmla="*/ 0 w 6039531"/>
              <a:gd name="connsiteY0" fmla="*/ 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0 w 6039531"/>
              <a:gd name="connsiteY4" fmla="*/ 0 h 4543425"/>
              <a:gd name="connsiteX0" fmla="*/ 1838325 w 6039531"/>
              <a:gd name="connsiteY0" fmla="*/ 1733550 h 4543425"/>
              <a:gd name="connsiteX1" fmla="*/ 6039531 w 6039531"/>
              <a:gd name="connsiteY1" fmla="*/ 0 h 4543425"/>
              <a:gd name="connsiteX2" fmla="*/ 6039531 w 6039531"/>
              <a:gd name="connsiteY2" fmla="*/ 4543425 h 4543425"/>
              <a:gd name="connsiteX3" fmla="*/ 0 w 6039531"/>
              <a:gd name="connsiteY3" fmla="*/ 4543425 h 4543425"/>
              <a:gd name="connsiteX4" fmla="*/ 1838325 w 6039531"/>
              <a:gd name="connsiteY4" fmla="*/ 1733550 h 4543425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6039531"/>
              <a:gd name="connsiteY0" fmla="*/ 1171575 h 3981450"/>
              <a:gd name="connsiteX1" fmla="*/ 5010831 w 6039531"/>
              <a:gd name="connsiteY1" fmla="*/ 0 h 3981450"/>
              <a:gd name="connsiteX2" fmla="*/ 6039531 w 6039531"/>
              <a:gd name="connsiteY2" fmla="*/ 3981450 h 3981450"/>
              <a:gd name="connsiteX3" fmla="*/ 0 w 6039531"/>
              <a:gd name="connsiteY3" fmla="*/ 3981450 h 3981450"/>
              <a:gd name="connsiteX4" fmla="*/ 1838325 w 6039531"/>
              <a:gd name="connsiteY4" fmla="*/ 1171575 h 3981450"/>
              <a:gd name="connsiteX0" fmla="*/ 1838325 w 5901188"/>
              <a:gd name="connsiteY0" fmla="*/ 1171575 h 3981450"/>
              <a:gd name="connsiteX1" fmla="*/ 5010831 w 5901188"/>
              <a:gd name="connsiteY1" fmla="*/ 0 h 3981450"/>
              <a:gd name="connsiteX2" fmla="*/ 5715681 w 5901188"/>
              <a:gd name="connsiteY2" fmla="*/ 3981450 h 3981450"/>
              <a:gd name="connsiteX3" fmla="*/ 0 w 5901188"/>
              <a:gd name="connsiteY3" fmla="*/ 3981450 h 3981450"/>
              <a:gd name="connsiteX4" fmla="*/ 1838325 w 5901188"/>
              <a:gd name="connsiteY4" fmla="*/ 1171575 h 3981450"/>
              <a:gd name="connsiteX0" fmla="*/ 1838325 w 6024106"/>
              <a:gd name="connsiteY0" fmla="*/ 1171575 h 3981450"/>
              <a:gd name="connsiteX1" fmla="*/ 5010831 w 6024106"/>
              <a:gd name="connsiteY1" fmla="*/ 0 h 3981450"/>
              <a:gd name="connsiteX2" fmla="*/ 5715681 w 6024106"/>
              <a:gd name="connsiteY2" fmla="*/ 3981450 h 3981450"/>
              <a:gd name="connsiteX3" fmla="*/ 0 w 6024106"/>
              <a:gd name="connsiteY3" fmla="*/ 3981450 h 3981450"/>
              <a:gd name="connsiteX4" fmla="*/ 1838325 w 6024106"/>
              <a:gd name="connsiteY4" fmla="*/ 1171575 h 3981450"/>
              <a:gd name="connsiteX0" fmla="*/ 1838325 w 5999156"/>
              <a:gd name="connsiteY0" fmla="*/ 1171575 h 3981450"/>
              <a:gd name="connsiteX1" fmla="*/ 5010831 w 5999156"/>
              <a:gd name="connsiteY1" fmla="*/ 0 h 3981450"/>
              <a:gd name="connsiteX2" fmla="*/ 5658531 w 5999156"/>
              <a:gd name="connsiteY2" fmla="*/ 3971925 h 3981450"/>
              <a:gd name="connsiteX3" fmla="*/ 0 w 5999156"/>
              <a:gd name="connsiteY3" fmla="*/ 3981450 h 3981450"/>
              <a:gd name="connsiteX4" fmla="*/ 1838325 w 5999156"/>
              <a:gd name="connsiteY4" fmla="*/ 1171575 h 3981450"/>
              <a:gd name="connsiteX0" fmla="*/ 1838325 w 5995110"/>
              <a:gd name="connsiteY0" fmla="*/ 1171575 h 3981450"/>
              <a:gd name="connsiteX1" fmla="*/ 5010831 w 5995110"/>
              <a:gd name="connsiteY1" fmla="*/ 0 h 3981450"/>
              <a:gd name="connsiteX2" fmla="*/ 5649006 w 5995110"/>
              <a:gd name="connsiteY2" fmla="*/ 3971925 h 3981450"/>
              <a:gd name="connsiteX3" fmla="*/ 0 w 5995110"/>
              <a:gd name="connsiteY3" fmla="*/ 3981450 h 3981450"/>
              <a:gd name="connsiteX4" fmla="*/ 1838325 w 5995110"/>
              <a:gd name="connsiteY4" fmla="*/ 1171575 h 3981450"/>
              <a:gd name="connsiteX0" fmla="*/ 1838325 w 6067416"/>
              <a:gd name="connsiteY0" fmla="*/ 1171575 h 3981450"/>
              <a:gd name="connsiteX1" fmla="*/ 5010831 w 6067416"/>
              <a:gd name="connsiteY1" fmla="*/ 0 h 3981450"/>
              <a:gd name="connsiteX2" fmla="*/ 5649006 w 6067416"/>
              <a:gd name="connsiteY2" fmla="*/ 3971925 h 3981450"/>
              <a:gd name="connsiteX3" fmla="*/ 0 w 6067416"/>
              <a:gd name="connsiteY3" fmla="*/ 3981450 h 3981450"/>
              <a:gd name="connsiteX4" fmla="*/ 1838325 w 6067416"/>
              <a:gd name="connsiteY4" fmla="*/ 1171575 h 3981450"/>
              <a:gd name="connsiteX0" fmla="*/ 1838325 w 6030455"/>
              <a:gd name="connsiteY0" fmla="*/ 1171575 h 3981450"/>
              <a:gd name="connsiteX1" fmla="*/ 5010831 w 6030455"/>
              <a:gd name="connsiteY1" fmla="*/ 0 h 3981450"/>
              <a:gd name="connsiteX2" fmla="*/ 5649006 w 6030455"/>
              <a:gd name="connsiteY2" fmla="*/ 3971925 h 3981450"/>
              <a:gd name="connsiteX3" fmla="*/ 0 w 6030455"/>
              <a:gd name="connsiteY3" fmla="*/ 3981450 h 3981450"/>
              <a:gd name="connsiteX4" fmla="*/ 1838325 w 6030455"/>
              <a:gd name="connsiteY4" fmla="*/ 1171575 h 3981450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24831"/>
              <a:gd name="connsiteY0" fmla="*/ 1186089 h 3995964"/>
              <a:gd name="connsiteX1" fmla="*/ 4999945 w 6024831"/>
              <a:gd name="connsiteY1" fmla="*/ 0 h 3995964"/>
              <a:gd name="connsiteX2" fmla="*/ 5649006 w 6024831"/>
              <a:gd name="connsiteY2" fmla="*/ 3986439 h 3995964"/>
              <a:gd name="connsiteX3" fmla="*/ 0 w 6024831"/>
              <a:gd name="connsiteY3" fmla="*/ 3995964 h 3995964"/>
              <a:gd name="connsiteX4" fmla="*/ 1838325 w 6024831"/>
              <a:gd name="connsiteY4" fmla="*/ 1186089 h 3995964"/>
              <a:gd name="connsiteX0" fmla="*/ 1838325 w 6006909"/>
              <a:gd name="connsiteY0" fmla="*/ 1186089 h 3995964"/>
              <a:gd name="connsiteX1" fmla="*/ 4999945 w 6006909"/>
              <a:gd name="connsiteY1" fmla="*/ 0 h 3995964"/>
              <a:gd name="connsiteX2" fmla="*/ 5649006 w 6006909"/>
              <a:gd name="connsiteY2" fmla="*/ 3986439 h 3995964"/>
              <a:gd name="connsiteX3" fmla="*/ 0 w 6006909"/>
              <a:gd name="connsiteY3" fmla="*/ 3995964 h 3995964"/>
              <a:gd name="connsiteX4" fmla="*/ 1838325 w 6006909"/>
              <a:gd name="connsiteY4" fmla="*/ 1186089 h 3995964"/>
              <a:gd name="connsiteX0" fmla="*/ 1838325 w 6023217"/>
              <a:gd name="connsiteY0" fmla="*/ 1186089 h 3995964"/>
              <a:gd name="connsiteX1" fmla="*/ 4999945 w 6023217"/>
              <a:gd name="connsiteY1" fmla="*/ 0 h 3995964"/>
              <a:gd name="connsiteX2" fmla="*/ 5649006 w 6023217"/>
              <a:gd name="connsiteY2" fmla="*/ 3986439 h 3995964"/>
              <a:gd name="connsiteX3" fmla="*/ 0 w 6023217"/>
              <a:gd name="connsiteY3" fmla="*/ 3995964 h 3995964"/>
              <a:gd name="connsiteX4" fmla="*/ 1838325 w 6023217"/>
              <a:gd name="connsiteY4" fmla="*/ 1186089 h 3995964"/>
              <a:gd name="connsiteX0" fmla="*/ 1838325 w 6024898"/>
              <a:gd name="connsiteY0" fmla="*/ 1186089 h 3995964"/>
              <a:gd name="connsiteX1" fmla="*/ 4999945 w 6024898"/>
              <a:gd name="connsiteY1" fmla="*/ 0 h 3995964"/>
              <a:gd name="connsiteX2" fmla="*/ 5649006 w 6024898"/>
              <a:gd name="connsiteY2" fmla="*/ 3986439 h 3995964"/>
              <a:gd name="connsiteX3" fmla="*/ 0 w 6024898"/>
              <a:gd name="connsiteY3" fmla="*/ 3995964 h 3995964"/>
              <a:gd name="connsiteX4" fmla="*/ 1838325 w 6024898"/>
              <a:gd name="connsiteY4" fmla="*/ 1186089 h 3995964"/>
              <a:gd name="connsiteX0" fmla="*/ 1838325 w 6041818"/>
              <a:gd name="connsiteY0" fmla="*/ 1186089 h 3995964"/>
              <a:gd name="connsiteX1" fmla="*/ 4999945 w 6041818"/>
              <a:gd name="connsiteY1" fmla="*/ 0 h 3995964"/>
              <a:gd name="connsiteX2" fmla="*/ 5649006 w 6041818"/>
              <a:gd name="connsiteY2" fmla="*/ 3986439 h 3995964"/>
              <a:gd name="connsiteX3" fmla="*/ 0 w 6041818"/>
              <a:gd name="connsiteY3" fmla="*/ 3995964 h 3995964"/>
              <a:gd name="connsiteX4" fmla="*/ 1838325 w 6041818"/>
              <a:gd name="connsiteY4" fmla="*/ 1186089 h 3995964"/>
              <a:gd name="connsiteX0" fmla="*/ 1838325 w 6041818"/>
              <a:gd name="connsiteY0" fmla="*/ 1186089 h 3995964"/>
              <a:gd name="connsiteX1" fmla="*/ 3277445 w 6041818"/>
              <a:gd name="connsiteY1" fmla="*/ 295988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186089 h 3995964"/>
              <a:gd name="connsiteX1" fmla="*/ 3299747 w 6041818"/>
              <a:gd name="connsiteY1" fmla="*/ 175555 h 3995964"/>
              <a:gd name="connsiteX2" fmla="*/ 4999945 w 6041818"/>
              <a:gd name="connsiteY2" fmla="*/ 0 h 3995964"/>
              <a:gd name="connsiteX3" fmla="*/ 5649006 w 6041818"/>
              <a:gd name="connsiteY3" fmla="*/ 3986439 h 3995964"/>
              <a:gd name="connsiteX4" fmla="*/ 0 w 6041818"/>
              <a:gd name="connsiteY4" fmla="*/ 3995964 h 3995964"/>
              <a:gd name="connsiteX5" fmla="*/ 1838325 w 6041818"/>
              <a:gd name="connsiteY5" fmla="*/ 1186089 h 3995964"/>
              <a:gd name="connsiteX0" fmla="*/ 1838325 w 6041818"/>
              <a:gd name="connsiteY0" fmla="*/ 1246863 h 4056738"/>
              <a:gd name="connsiteX1" fmla="*/ 3299747 w 6041818"/>
              <a:gd name="connsiteY1" fmla="*/ 236329 h 4056738"/>
              <a:gd name="connsiteX2" fmla="*/ 4999945 w 6041818"/>
              <a:gd name="connsiteY2" fmla="*/ 60774 h 4056738"/>
              <a:gd name="connsiteX3" fmla="*/ 5649006 w 6041818"/>
              <a:gd name="connsiteY3" fmla="*/ 4047213 h 4056738"/>
              <a:gd name="connsiteX4" fmla="*/ 0 w 6041818"/>
              <a:gd name="connsiteY4" fmla="*/ 4056738 h 4056738"/>
              <a:gd name="connsiteX5" fmla="*/ 1838325 w 6041818"/>
              <a:gd name="connsiteY5" fmla="*/ 1246863 h 4056738"/>
              <a:gd name="connsiteX0" fmla="*/ 1838325 w 6041818"/>
              <a:gd name="connsiteY0" fmla="*/ 1302400 h 4112275"/>
              <a:gd name="connsiteX1" fmla="*/ 3299747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302400 h 4112275"/>
              <a:gd name="connsiteX1" fmla="*/ 3268524 w 6041818"/>
              <a:gd name="connsiteY1" fmla="*/ 291866 h 4112275"/>
              <a:gd name="connsiteX2" fmla="*/ 4999945 w 6041818"/>
              <a:gd name="connsiteY2" fmla="*/ 116311 h 4112275"/>
              <a:gd name="connsiteX3" fmla="*/ 5649006 w 6041818"/>
              <a:gd name="connsiteY3" fmla="*/ 4102750 h 4112275"/>
              <a:gd name="connsiteX4" fmla="*/ 0 w 6041818"/>
              <a:gd name="connsiteY4" fmla="*/ 4112275 h 4112275"/>
              <a:gd name="connsiteX5" fmla="*/ 1838325 w 6041818"/>
              <a:gd name="connsiteY5" fmla="*/ 1302400 h 4112275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38325 w 6041818"/>
              <a:gd name="connsiteY0" fmla="*/ 1287822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38325 w 6041818"/>
              <a:gd name="connsiteY5" fmla="*/ 1287822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1204 h 4097697"/>
              <a:gd name="connsiteX1" fmla="*/ 3268524 w 6041818"/>
              <a:gd name="connsiteY1" fmla="*/ 277288 h 4097697"/>
              <a:gd name="connsiteX2" fmla="*/ 4999945 w 6041818"/>
              <a:gd name="connsiteY2" fmla="*/ 101733 h 4097697"/>
              <a:gd name="connsiteX3" fmla="*/ 5649006 w 6041818"/>
              <a:gd name="connsiteY3" fmla="*/ 4088172 h 4097697"/>
              <a:gd name="connsiteX4" fmla="*/ 0 w 6041818"/>
              <a:gd name="connsiteY4" fmla="*/ 4097697 h 4097697"/>
              <a:gd name="connsiteX5" fmla="*/ 1842786 w 6041818"/>
              <a:gd name="connsiteY5" fmla="*/ 1301204 h 4097697"/>
              <a:gd name="connsiteX0" fmla="*/ 1842786 w 6041818"/>
              <a:gd name="connsiteY0" fmla="*/ 1308271 h 4104764"/>
              <a:gd name="connsiteX1" fmla="*/ 3268524 w 6041818"/>
              <a:gd name="connsiteY1" fmla="*/ 284355 h 4104764"/>
              <a:gd name="connsiteX2" fmla="*/ 4999945 w 6041818"/>
              <a:gd name="connsiteY2" fmla="*/ 108800 h 4104764"/>
              <a:gd name="connsiteX3" fmla="*/ 5649006 w 6041818"/>
              <a:gd name="connsiteY3" fmla="*/ 4095239 h 4104764"/>
              <a:gd name="connsiteX4" fmla="*/ 0 w 6041818"/>
              <a:gd name="connsiteY4" fmla="*/ 4104764 h 4104764"/>
              <a:gd name="connsiteX5" fmla="*/ 1842786 w 6041818"/>
              <a:gd name="connsiteY5" fmla="*/ 1308271 h 4104764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48148"/>
              <a:gd name="connsiteY0" fmla="*/ 1308271 h 4109225"/>
              <a:gd name="connsiteX1" fmla="*/ 3174854 w 5948148"/>
              <a:gd name="connsiteY1" fmla="*/ 284355 h 4109225"/>
              <a:gd name="connsiteX2" fmla="*/ 4906275 w 5948148"/>
              <a:gd name="connsiteY2" fmla="*/ 108800 h 4109225"/>
              <a:gd name="connsiteX3" fmla="*/ 5555336 w 5948148"/>
              <a:gd name="connsiteY3" fmla="*/ 4095239 h 4109225"/>
              <a:gd name="connsiteX4" fmla="*/ 0 w 5948148"/>
              <a:gd name="connsiteY4" fmla="*/ 4109225 h 4109225"/>
              <a:gd name="connsiteX5" fmla="*/ 1749116 w 5948148"/>
              <a:gd name="connsiteY5" fmla="*/ 1308271 h 4109225"/>
              <a:gd name="connsiteX0" fmla="*/ 1749116 w 5950256"/>
              <a:gd name="connsiteY0" fmla="*/ 1308271 h 4111641"/>
              <a:gd name="connsiteX1" fmla="*/ 3174854 w 5950256"/>
              <a:gd name="connsiteY1" fmla="*/ 284355 h 4111641"/>
              <a:gd name="connsiteX2" fmla="*/ 4906275 w 5950256"/>
              <a:gd name="connsiteY2" fmla="*/ 108800 h 4111641"/>
              <a:gd name="connsiteX3" fmla="*/ 5559436 w 5950256"/>
              <a:gd name="connsiteY3" fmla="*/ 4111641 h 4111641"/>
              <a:gd name="connsiteX4" fmla="*/ 0 w 5950256"/>
              <a:gd name="connsiteY4" fmla="*/ 4109225 h 4111641"/>
              <a:gd name="connsiteX5" fmla="*/ 1749116 w 5950256"/>
              <a:gd name="connsiteY5" fmla="*/ 1308271 h 4111641"/>
              <a:gd name="connsiteX0" fmla="*/ 1757317 w 5958457"/>
              <a:gd name="connsiteY0" fmla="*/ 1308271 h 4113325"/>
              <a:gd name="connsiteX1" fmla="*/ 3183055 w 5958457"/>
              <a:gd name="connsiteY1" fmla="*/ 284355 h 4113325"/>
              <a:gd name="connsiteX2" fmla="*/ 4914476 w 5958457"/>
              <a:gd name="connsiteY2" fmla="*/ 108800 h 4113325"/>
              <a:gd name="connsiteX3" fmla="*/ 5567637 w 5958457"/>
              <a:gd name="connsiteY3" fmla="*/ 4111641 h 4113325"/>
              <a:gd name="connsiteX4" fmla="*/ 0 w 5958457"/>
              <a:gd name="connsiteY4" fmla="*/ 4113325 h 4113325"/>
              <a:gd name="connsiteX5" fmla="*/ 1757317 w 595845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57317 w 5974207"/>
              <a:gd name="connsiteY0" fmla="*/ 1308271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57317 w 5974207"/>
              <a:gd name="connsiteY5" fmla="*/ 1308271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61417 w 5974207"/>
              <a:gd name="connsiteY0" fmla="*/ 1328773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61417 w 5974207"/>
              <a:gd name="connsiteY5" fmla="*/ 1328773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49116 w 5974207"/>
              <a:gd name="connsiteY0" fmla="*/ 1324672 h 4113325"/>
              <a:gd name="connsiteX1" fmla="*/ 3183055 w 5974207"/>
              <a:gd name="connsiteY1" fmla="*/ 284355 h 4113325"/>
              <a:gd name="connsiteX2" fmla="*/ 4914476 w 5974207"/>
              <a:gd name="connsiteY2" fmla="*/ 108800 h 4113325"/>
              <a:gd name="connsiteX3" fmla="*/ 5567637 w 5974207"/>
              <a:gd name="connsiteY3" fmla="*/ 4111641 h 4113325"/>
              <a:gd name="connsiteX4" fmla="*/ 0 w 5974207"/>
              <a:gd name="connsiteY4" fmla="*/ 4113325 h 4113325"/>
              <a:gd name="connsiteX5" fmla="*/ 1749116 w 5974207"/>
              <a:gd name="connsiteY5" fmla="*/ 1324672 h 4113325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20413 w 5945504"/>
              <a:gd name="connsiteY0" fmla="*/ 1324672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20413 w 5945504"/>
              <a:gd name="connsiteY5" fmla="*/ 1324672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  <a:gd name="connsiteX0" fmla="*/ 1705545 w 5945504"/>
              <a:gd name="connsiteY0" fmla="*/ 1346975 h 4111641"/>
              <a:gd name="connsiteX1" fmla="*/ 3154352 w 5945504"/>
              <a:gd name="connsiteY1" fmla="*/ 284355 h 4111641"/>
              <a:gd name="connsiteX2" fmla="*/ 4885773 w 5945504"/>
              <a:gd name="connsiteY2" fmla="*/ 108800 h 4111641"/>
              <a:gd name="connsiteX3" fmla="*/ 5538934 w 5945504"/>
              <a:gd name="connsiteY3" fmla="*/ 4111641 h 4111641"/>
              <a:gd name="connsiteX4" fmla="*/ 0 w 5945504"/>
              <a:gd name="connsiteY4" fmla="*/ 4105124 h 4111641"/>
              <a:gd name="connsiteX5" fmla="*/ 1705545 w 5945504"/>
              <a:gd name="connsiteY5" fmla="*/ 1346975 h 411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5504" h="4111641">
                <a:moveTo>
                  <a:pt x="1705545" y="1346975"/>
                </a:moveTo>
                <a:cubicBezTo>
                  <a:pt x="2096402" y="968092"/>
                  <a:pt x="2651983" y="493379"/>
                  <a:pt x="3154352" y="284355"/>
                </a:cubicBezTo>
                <a:cubicBezTo>
                  <a:pt x="3961951" y="-117620"/>
                  <a:pt x="4528683" y="-11101"/>
                  <a:pt x="4885773" y="108800"/>
                </a:cubicBezTo>
                <a:cubicBezTo>
                  <a:pt x="6457851" y="777818"/>
                  <a:pt x="5920198" y="3362338"/>
                  <a:pt x="5538934" y="4111641"/>
                </a:cubicBezTo>
                <a:lnTo>
                  <a:pt x="0" y="4105124"/>
                </a:lnTo>
                <a:cubicBezTo>
                  <a:pt x="553165" y="2615302"/>
                  <a:pt x="1250557" y="1809734"/>
                  <a:pt x="1705545" y="1346975"/>
                </a:cubicBezTo>
                <a:close/>
              </a:path>
            </a:pathLst>
          </a:custGeom>
          <a:ln>
            <a:noFill/>
          </a:ln>
        </p:spPr>
        <p:txBody>
          <a:bodyPr lIns="91428" tIns="45715" rIns="91428" bIns="45715" anchor="ctr" anchorCtr="1"/>
          <a:lstStyle>
            <a:lvl1pPr marL="0" indent="0">
              <a:buNone/>
              <a:defRPr sz="2400">
                <a:solidFill>
                  <a:schemeClr val="tx2"/>
                </a:solidFill>
                <a:latin typeface="Zurich BT Roman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chemeClr val="bg1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12" y="1219206"/>
            <a:ext cx="5817002" cy="4267199"/>
          </a:xfrm>
          <a:prstGeom prst="rect">
            <a:avLst/>
          </a:prstGeom>
        </p:spPr>
        <p:txBody>
          <a:bodyPr lIns="91428" tIns="45715" rIns="91428" bIns="45715"/>
          <a:lstStyle>
            <a:lvl1pPr marL="342857" indent="-342857">
              <a:buFont typeface="Arial"/>
              <a:buChar char="•"/>
              <a:defRPr sz="2400" b="1">
                <a:solidFill>
                  <a:schemeClr val="accent3"/>
                </a:solidFill>
                <a:latin typeface="Zurich BT" panose="020B0603020202030204" pitchFamily="34" charset="0"/>
              </a:defRPr>
            </a:lvl1pPr>
            <a:lvl2pPr marL="457144" indent="0">
              <a:buNone/>
              <a:defRPr/>
            </a:lvl2pPr>
          </a:lstStyle>
          <a:p>
            <a:pPr lvl="0"/>
            <a:r>
              <a:rPr lang="en-US" dirty="0"/>
              <a:t>Text 1</a:t>
            </a:r>
          </a:p>
          <a:p>
            <a:pPr lvl="0"/>
            <a:r>
              <a:rPr lang="en-US" dirty="0"/>
              <a:t>Text 2</a:t>
            </a:r>
          </a:p>
        </p:txBody>
      </p:sp>
    </p:spTree>
    <p:extLst>
      <p:ext uri="{BB962C8B-B14F-4D97-AF65-F5344CB8AC3E}">
        <p14:creationId xmlns:p14="http://schemas.microsoft.com/office/powerpoint/2010/main" val="3269159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97281D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11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13" y="1219201"/>
            <a:ext cx="11683607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Sub Text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15" y="1828800"/>
            <a:ext cx="11684400" cy="396240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chemeClr val="accent3"/>
                </a:solidFill>
                <a:latin typeface="Zurich BT" pitchFamily="34" charset="0"/>
              </a:defRPr>
            </a:lvl1pPr>
            <a:lvl2pPr marL="687304" indent="-342857">
              <a:buFont typeface="Arial" pitchFamily="34" charset="0"/>
              <a:buChar char="•"/>
              <a:tabLst>
                <a:tab pos="687304" algn="l"/>
              </a:tabLst>
              <a:defRPr sz="2200">
                <a:solidFill>
                  <a:schemeClr val="accent3"/>
                </a:solidFill>
                <a:latin typeface="Zurich BT" pitchFamily="34" charset="0"/>
              </a:defRPr>
            </a:lvl2pPr>
            <a:lvl3pPr>
              <a:defRPr sz="2400">
                <a:solidFill>
                  <a:srgbClr val="053C6C"/>
                </a:solidFill>
                <a:latin typeface="Zurich BT" pitchFamily="34" charset="0"/>
              </a:defRPr>
            </a:lvl3pPr>
            <a:lvl4pPr>
              <a:defRPr sz="2400">
                <a:solidFill>
                  <a:srgbClr val="053C6C"/>
                </a:solidFill>
                <a:latin typeface="Zurich BT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Zurich BT" pitchFamily="34" charset="0"/>
              </a:defRPr>
            </a:lvl5pPr>
          </a:lstStyle>
          <a:p>
            <a:pPr lvl="0"/>
            <a:r>
              <a:rPr lang="en-US" dirty="0"/>
              <a:t>Text 1</a:t>
            </a:r>
          </a:p>
          <a:p>
            <a:pPr lvl="0"/>
            <a:r>
              <a:rPr lang="en-US" dirty="0"/>
              <a:t>Text 2</a:t>
            </a:r>
          </a:p>
          <a:p>
            <a:pPr lvl="1"/>
            <a:r>
              <a:rPr lang="en-US" dirty="0"/>
              <a:t>Second level 1</a:t>
            </a:r>
          </a:p>
          <a:p>
            <a:pPr lvl="1"/>
            <a:r>
              <a:rPr lang="en-US" dirty="0"/>
              <a:t>Second level 2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 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0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199" b="1">
                <a:solidFill>
                  <a:schemeClr val="accent2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" name="SmartArt Placeholder 4"/>
          <p:cNvSpPr>
            <a:spLocks noGrp="1"/>
          </p:cNvSpPr>
          <p:nvPr>
            <p:ph type="dgm" sz="quarter" idx="13" hasCustomPrompt="1"/>
          </p:nvPr>
        </p:nvSpPr>
        <p:spPr>
          <a:xfrm>
            <a:off x="200018" y="1295403"/>
            <a:ext cx="11685600" cy="4363156"/>
          </a:xfrm>
          <a:prstGeom prst="rect">
            <a:avLst/>
          </a:prstGeom>
        </p:spPr>
        <p:txBody>
          <a:bodyPr vert="horz" lIns="91428" tIns="45715" rIns="91428" bIns="45715"/>
          <a:lstStyle>
            <a:lvl1pPr marL="0" indent="0">
              <a:buNone/>
              <a:defRPr lang="en-US" sz="2399" b="1" kern="1200" dirty="0">
                <a:solidFill>
                  <a:srgbClr val="053C6C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Smart Art Graphic</a:t>
            </a:r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41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622"/>
            <a:endParaRPr lang="en-US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8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02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B186-6FF0-49E9-8C40-32299E50B275}" type="datetime1">
              <a:rPr lang="en-IN" smtClean="0"/>
              <a:t>19-12-2025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3399-483C-4B10-BB20-C20AD5951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696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705604" y="239190"/>
            <a:ext cx="5190653" cy="5933017"/>
          </a:xfrm>
          <a:prstGeom prst="rect">
            <a:avLst/>
          </a:prstGeom>
        </p:spPr>
        <p:txBody>
          <a:bodyPr vert="horz" lIns="91428" tIns="45715" rIns="91428" bIns="45715"/>
          <a:lstStyle>
            <a:lvl1pPr marL="0" indent="0">
              <a:buNone/>
              <a:defRPr sz="2400">
                <a:solidFill>
                  <a:srgbClr val="053C6D"/>
                </a:solidFill>
                <a:latin typeface="Zurich BT Roman"/>
                <a:cs typeface="Zurich BT Roman"/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203206" y="237071"/>
            <a:ext cx="58928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97281D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16" y="1219201"/>
            <a:ext cx="5892800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Sub Text</a:t>
            </a:r>
          </a:p>
        </p:txBody>
      </p:sp>
      <p:sp>
        <p:nvSpPr>
          <p:cNvPr id="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16" y="1828800"/>
            <a:ext cx="5893200" cy="396240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rgbClr val="053C6C"/>
                </a:solidFill>
                <a:latin typeface="Zurich BT" pitchFamily="34" charset="0"/>
              </a:defRPr>
            </a:lvl1pPr>
            <a:lvl2pPr marL="687304" indent="-342857">
              <a:buFont typeface="Arial" pitchFamily="34" charset="0"/>
              <a:buChar char="•"/>
              <a:tabLst>
                <a:tab pos="687304" algn="l"/>
              </a:tabLst>
              <a:defRPr sz="2200">
                <a:solidFill>
                  <a:srgbClr val="053C6C"/>
                </a:solidFill>
                <a:latin typeface="Zurich BT" pitchFamily="34" charset="0"/>
              </a:defRPr>
            </a:lvl2pPr>
            <a:lvl3pPr>
              <a:defRPr sz="2400">
                <a:solidFill>
                  <a:srgbClr val="053C6C"/>
                </a:solidFill>
                <a:latin typeface="Zurich BT" pitchFamily="34" charset="0"/>
              </a:defRPr>
            </a:lvl3pPr>
            <a:lvl4pPr>
              <a:defRPr sz="2400">
                <a:solidFill>
                  <a:srgbClr val="053C6C"/>
                </a:solidFill>
                <a:latin typeface="Zurich BT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Zurich BT" pitchFamily="34" charset="0"/>
              </a:defRPr>
            </a:lvl5pPr>
          </a:lstStyle>
          <a:p>
            <a:pPr lvl="0"/>
            <a:r>
              <a:rPr lang="en-US" dirty="0"/>
              <a:t>Text 1</a:t>
            </a:r>
          </a:p>
          <a:p>
            <a:pPr lvl="0"/>
            <a:r>
              <a:rPr lang="en-US" dirty="0"/>
              <a:t>Text 2</a:t>
            </a:r>
          </a:p>
          <a:p>
            <a:pPr lvl="1"/>
            <a:r>
              <a:rPr lang="en-US" dirty="0"/>
              <a:t>Second level 1</a:t>
            </a:r>
          </a:p>
          <a:p>
            <a:pPr lvl="1"/>
            <a:r>
              <a:rPr lang="en-US" dirty="0"/>
              <a:t>Second level 2</a:t>
            </a:r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chemeClr val="accent2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" name="Chart Placeholder 6"/>
          <p:cNvSpPr>
            <a:spLocks noGrp="1"/>
          </p:cNvSpPr>
          <p:nvPr>
            <p:ph type="chart" sz="quarter" idx="28" hasCustomPrompt="1"/>
          </p:nvPr>
        </p:nvSpPr>
        <p:spPr>
          <a:xfrm>
            <a:off x="5942017" y="1219205"/>
            <a:ext cx="5928782" cy="3276601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>
                <a:solidFill>
                  <a:srgbClr val="053C6C"/>
                </a:solidFill>
                <a:latin typeface="Zurich BT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9" hasCustomPrompt="1"/>
          </p:nvPr>
        </p:nvSpPr>
        <p:spPr>
          <a:xfrm>
            <a:off x="6171743" y="4572003"/>
            <a:ext cx="5713872" cy="457200"/>
          </a:xfrm>
          <a:prstGeom prst="rect">
            <a:avLst/>
          </a:prstGeom>
        </p:spPr>
        <p:txBody>
          <a:bodyPr vert="horz" lIns="91428" tIns="45715" rIns="91428" bIns="45715"/>
          <a:lstStyle>
            <a:lvl1pPr marL="0" indent="0">
              <a:buFont typeface="Arial"/>
              <a:buNone/>
              <a:defRPr sz="2000" b="1">
                <a:solidFill>
                  <a:srgbClr val="1F497D"/>
                </a:solidFill>
                <a:latin typeface="Zurich BT Roman"/>
                <a:cs typeface="Zurich BT Roman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6170611" y="5029204"/>
            <a:ext cx="5701800" cy="914401"/>
          </a:xfrm>
          <a:prstGeom prst="rect">
            <a:avLst/>
          </a:prstGeom>
        </p:spPr>
        <p:txBody>
          <a:bodyPr vert="horz" lIns="91428" tIns="45715" rIns="91428" bIns="45715"/>
          <a:lstStyle>
            <a:lvl1pPr marL="290477" indent="-231745">
              <a:buFont typeface="Arial"/>
              <a:buChar char="•"/>
              <a:defRPr sz="2000" b="0">
                <a:solidFill>
                  <a:srgbClr val="1F497D"/>
                </a:solidFill>
                <a:latin typeface="Zurich BT Roman"/>
                <a:cs typeface="Zurich BT Roman"/>
              </a:defRPr>
            </a:lvl1pPr>
          </a:lstStyle>
          <a:p>
            <a:pPr lvl="0"/>
            <a:r>
              <a:rPr lang="en-US" dirty="0"/>
              <a:t>Text1</a:t>
            </a:r>
          </a:p>
          <a:p>
            <a:pPr lvl="0"/>
            <a:r>
              <a:rPr lang="en-US" dirty="0"/>
              <a:t>Text 2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201216" y="1219201"/>
            <a:ext cx="4978462" cy="6096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1F497D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Sub Text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15" y="1828800"/>
            <a:ext cx="4978800" cy="3962400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rgbClr val="053C6C"/>
                </a:solidFill>
                <a:latin typeface="Zurich BT" pitchFamily="34" charset="0"/>
              </a:defRPr>
            </a:lvl1pPr>
            <a:lvl2pPr marL="687304" indent="-344444">
              <a:buFont typeface="Arial" pitchFamily="34" charset="0"/>
              <a:buChar char="•"/>
              <a:defRPr sz="2200">
                <a:solidFill>
                  <a:srgbClr val="053C6C"/>
                </a:solidFill>
                <a:latin typeface="Zurich BT" pitchFamily="34" charset="0"/>
              </a:defRPr>
            </a:lvl2pPr>
            <a:lvl3pPr>
              <a:defRPr sz="2400">
                <a:solidFill>
                  <a:srgbClr val="053C6C"/>
                </a:solidFill>
                <a:latin typeface="Zurich BT" pitchFamily="34" charset="0"/>
              </a:defRPr>
            </a:lvl3pPr>
            <a:lvl4pPr>
              <a:defRPr sz="2400">
                <a:solidFill>
                  <a:srgbClr val="053C6C"/>
                </a:solidFill>
                <a:latin typeface="Zurich BT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Zurich BT" pitchFamily="34" charset="0"/>
              </a:defRPr>
            </a:lvl5pPr>
          </a:lstStyle>
          <a:p>
            <a:pPr lvl="0"/>
            <a:r>
              <a:rPr lang="en-US" dirty="0"/>
              <a:t>Text 1</a:t>
            </a:r>
          </a:p>
          <a:p>
            <a:pPr lvl="0"/>
            <a:r>
              <a:rPr lang="en-US" dirty="0"/>
              <a:t>Text 2</a:t>
            </a:r>
          </a:p>
          <a:p>
            <a:pPr lvl="1"/>
            <a:r>
              <a:rPr lang="en-US" dirty="0"/>
              <a:t>Second level 1</a:t>
            </a:r>
          </a:p>
          <a:p>
            <a:pPr lvl="1"/>
            <a:r>
              <a:rPr lang="en-US" dirty="0"/>
              <a:t>Second level 2</a:t>
            </a:r>
          </a:p>
          <a:p>
            <a:pPr lvl="0"/>
            <a:endParaRPr lang="en-US" dirty="0"/>
          </a:p>
        </p:txBody>
      </p:sp>
      <p:sp>
        <p:nvSpPr>
          <p:cNvPr id="11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841917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" name="Table Placeholder 3"/>
          <p:cNvSpPr>
            <a:spLocks noGrp="1"/>
          </p:cNvSpPr>
          <p:nvPr>
            <p:ph type="tbl" sz="quarter" idx="27"/>
          </p:nvPr>
        </p:nvSpPr>
        <p:spPr>
          <a:xfrm>
            <a:off x="6474818" y="1139354"/>
            <a:ext cx="5410800" cy="3581999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 baseline="0">
                <a:solidFill>
                  <a:srgbClr val="053C6C"/>
                </a:solidFill>
                <a:latin typeface="Zurich BT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9" hasCustomPrompt="1"/>
          </p:nvPr>
        </p:nvSpPr>
        <p:spPr>
          <a:xfrm>
            <a:off x="227013" y="5029204"/>
            <a:ext cx="11658600" cy="914401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defRPr lang="en-US" sz="2000" kern="1200" dirty="0" smtClean="0">
                <a:solidFill>
                  <a:srgbClr val="053C6C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Sub Text</a:t>
            </a:r>
          </a:p>
          <a:p>
            <a:pPr lvl="0"/>
            <a:r>
              <a:rPr lang="en-US" dirty="0"/>
              <a:t>Sub Text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16" y="1143005"/>
            <a:ext cx="5359800" cy="3581399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rgbClr val="053C6C"/>
                </a:solidFill>
                <a:latin typeface="Zurich BT" pitchFamily="34" charset="0"/>
              </a:defRPr>
            </a:lvl1pPr>
            <a:lvl2pPr marL="687304" indent="-344444">
              <a:buFont typeface="Arial" pitchFamily="34" charset="0"/>
              <a:buChar char="•"/>
              <a:defRPr sz="2200">
                <a:solidFill>
                  <a:srgbClr val="053C6C"/>
                </a:solidFill>
                <a:latin typeface="Zurich BT" pitchFamily="34" charset="0"/>
              </a:defRPr>
            </a:lvl2pPr>
            <a:lvl3pPr>
              <a:defRPr sz="2400">
                <a:solidFill>
                  <a:srgbClr val="053C6C"/>
                </a:solidFill>
                <a:latin typeface="Zurich BT" pitchFamily="34" charset="0"/>
              </a:defRPr>
            </a:lvl3pPr>
            <a:lvl4pPr>
              <a:defRPr sz="2400">
                <a:solidFill>
                  <a:srgbClr val="053C6C"/>
                </a:solidFill>
                <a:latin typeface="Zurich BT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Zurich BT" pitchFamily="34" charset="0"/>
              </a:defRPr>
            </a:lvl5pPr>
          </a:lstStyle>
          <a:p>
            <a:pPr lvl="0"/>
            <a:r>
              <a:rPr lang="en-US" dirty="0"/>
              <a:t>Text 1</a:t>
            </a:r>
          </a:p>
          <a:p>
            <a:pPr lvl="0"/>
            <a:r>
              <a:rPr lang="en-US" dirty="0"/>
              <a:t>Text 2</a:t>
            </a:r>
          </a:p>
          <a:p>
            <a:pPr lvl="1"/>
            <a:r>
              <a:rPr lang="en-US" dirty="0"/>
              <a:t>Text 3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mart Ar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841917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8" name="SmartArt Placeholder 12"/>
          <p:cNvSpPr>
            <a:spLocks noGrp="1"/>
          </p:cNvSpPr>
          <p:nvPr>
            <p:ph type="dgm" sz="quarter" idx="29" hasCustomPrompt="1"/>
          </p:nvPr>
        </p:nvSpPr>
        <p:spPr>
          <a:xfrm>
            <a:off x="6474818" y="1143005"/>
            <a:ext cx="5410800" cy="3581399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>
                <a:solidFill>
                  <a:srgbClr val="053C6C"/>
                </a:solidFill>
                <a:latin typeface="Zurich BT" pitchFamily="34" charset="0"/>
              </a:defRPr>
            </a:lvl1pPr>
          </a:lstStyle>
          <a:p>
            <a:r>
              <a:rPr lang="en-US" dirty="0"/>
              <a:t>Smart Art Graphic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227013" y="5029204"/>
            <a:ext cx="11658600" cy="914401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defRPr lang="en-US" sz="2000" kern="1200" dirty="0" smtClean="0">
                <a:solidFill>
                  <a:srgbClr val="053C6C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Sub Text</a:t>
            </a:r>
          </a:p>
          <a:p>
            <a:pPr lvl="0"/>
            <a:r>
              <a:rPr lang="en-US" dirty="0"/>
              <a:t>Sub Text</a:t>
            </a:r>
          </a:p>
        </p:txBody>
      </p:sp>
      <p:sp>
        <p:nvSpPr>
          <p:cNvPr id="10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201216" y="1143005"/>
            <a:ext cx="5359800" cy="3581399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Font typeface="Arial" pitchFamily="34" charset="0"/>
              <a:buChar char="•"/>
              <a:defRPr sz="2400">
                <a:solidFill>
                  <a:srgbClr val="053C6C"/>
                </a:solidFill>
                <a:latin typeface="Zurich BT" pitchFamily="34" charset="0"/>
              </a:defRPr>
            </a:lvl1pPr>
            <a:lvl2pPr marL="687304" indent="-344444">
              <a:buFont typeface="Arial" pitchFamily="34" charset="0"/>
              <a:buChar char="•"/>
              <a:defRPr sz="2200">
                <a:solidFill>
                  <a:srgbClr val="053C6C"/>
                </a:solidFill>
                <a:latin typeface="Zurich BT" pitchFamily="34" charset="0"/>
              </a:defRPr>
            </a:lvl2pPr>
            <a:lvl3pPr>
              <a:defRPr sz="2400">
                <a:solidFill>
                  <a:srgbClr val="053C6C"/>
                </a:solidFill>
                <a:latin typeface="Zurich BT" pitchFamily="34" charset="0"/>
              </a:defRPr>
            </a:lvl3pPr>
            <a:lvl4pPr>
              <a:defRPr sz="2400">
                <a:solidFill>
                  <a:srgbClr val="053C6C"/>
                </a:solidFill>
                <a:latin typeface="Zurich BT" pitchFamily="34" charset="0"/>
              </a:defRPr>
            </a:lvl4pPr>
            <a:lvl5pPr>
              <a:defRPr sz="2400">
                <a:solidFill>
                  <a:srgbClr val="053C6C"/>
                </a:solidFill>
                <a:latin typeface="Zurich BT" pitchFamily="34" charset="0"/>
              </a:defRPr>
            </a:lvl5pPr>
          </a:lstStyle>
          <a:p>
            <a:pPr lvl="0"/>
            <a:r>
              <a:rPr lang="en-US" dirty="0"/>
              <a:t>Text 1</a:t>
            </a:r>
          </a:p>
          <a:p>
            <a:pPr lvl="0"/>
            <a:r>
              <a:rPr lang="en-US" dirty="0"/>
              <a:t>Text 2</a:t>
            </a:r>
          </a:p>
          <a:p>
            <a:pPr lvl="1"/>
            <a:r>
              <a:rPr lang="en-US" dirty="0"/>
              <a:t>Text 3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0"/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841917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27016" y="1092201"/>
            <a:ext cx="4673600" cy="660400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2400" b="1">
                <a:solidFill>
                  <a:srgbClr val="053C6C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7" name="Chart Placeholder 5"/>
          <p:cNvSpPr>
            <a:spLocks noGrp="1"/>
          </p:cNvSpPr>
          <p:nvPr>
            <p:ph type="chart" sz="quarter" idx="16" hasCustomPrompt="1"/>
          </p:nvPr>
        </p:nvSpPr>
        <p:spPr>
          <a:xfrm>
            <a:off x="209023" y="2110317"/>
            <a:ext cx="11676590" cy="3376083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>
                <a:solidFill>
                  <a:srgbClr val="053C6C"/>
                </a:solidFill>
                <a:latin typeface="Zurich BT" pitchFamily="34" charset="0"/>
              </a:defRPr>
            </a:lvl1pPr>
          </a:lstStyle>
          <a:p>
            <a:r>
              <a:rPr lang="en-US" dirty="0"/>
              <a:t>Chart 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841917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29" hasCustomPrompt="1"/>
          </p:nvPr>
        </p:nvSpPr>
        <p:spPr>
          <a:xfrm>
            <a:off x="217692" y="1193788"/>
            <a:ext cx="5571926" cy="3951528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>
                <a:solidFill>
                  <a:srgbClr val="053C6C"/>
                </a:solidFill>
                <a:latin typeface="Zurich BT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32" hasCustomPrompt="1"/>
          </p:nvPr>
        </p:nvSpPr>
        <p:spPr>
          <a:xfrm>
            <a:off x="6312815" y="1193793"/>
            <a:ext cx="5572800" cy="3951528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2400">
                <a:solidFill>
                  <a:srgbClr val="053C6C"/>
                </a:solidFill>
                <a:latin typeface="Zurich BT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323015" y="5257806"/>
            <a:ext cx="5572800" cy="533399"/>
          </a:xfrm>
          <a:prstGeom prst="rect">
            <a:avLst/>
          </a:prstGeom>
          <a:solidFill>
            <a:srgbClr val="97291E"/>
          </a:solidFill>
        </p:spPr>
        <p:txBody>
          <a:bodyPr lIns="91428" tIns="45715" rIns="91428" bIns="45715" anchor="ctr">
            <a:noAutofit/>
          </a:bodyPr>
          <a:lstStyle>
            <a:lvl1pPr algn="ctr">
              <a:buNone/>
              <a:defRPr sz="1900" b="1">
                <a:solidFill>
                  <a:schemeClr val="bg1"/>
                </a:solidFill>
                <a:latin typeface="Zurich BT Roman"/>
                <a:cs typeface="Zurich BT Roman"/>
              </a:defRPr>
            </a:lvl1pPr>
          </a:lstStyle>
          <a:p>
            <a:pPr lvl="0"/>
            <a:r>
              <a:rPr lang="en-US" dirty="0"/>
              <a:t> Text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199418" y="5257803"/>
            <a:ext cx="5572800" cy="457200"/>
          </a:xfrm>
          <a:prstGeom prst="rect">
            <a:avLst/>
          </a:prstGeom>
          <a:solidFill>
            <a:srgbClr val="E77817"/>
          </a:solidFill>
        </p:spPr>
        <p:txBody>
          <a:bodyPr lIns="91428" tIns="45715" rIns="91428" bIns="45715" anchor="ctr">
            <a:noAutofit/>
          </a:bodyPr>
          <a:lstStyle>
            <a:lvl1pPr algn="ctr">
              <a:buNone/>
              <a:defRPr sz="1900" b="1">
                <a:solidFill>
                  <a:schemeClr val="bg1"/>
                </a:solidFill>
                <a:latin typeface="Zurich BT Roman"/>
                <a:cs typeface="Zurich BT Roman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71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rgbClr val="97281D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7" name="Table Placeholder 3"/>
          <p:cNvSpPr>
            <a:spLocks noGrp="1"/>
          </p:cNvSpPr>
          <p:nvPr>
            <p:ph type="tbl" sz="quarter" idx="27" hasCustomPrompt="1"/>
          </p:nvPr>
        </p:nvSpPr>
        <p:spPr>
          <a:xfrm>
            <a:off x="227015" y="1219203"/>
            <a:ext cx="11582400" cy="3585632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buNone/>
              <a:defRPr sz="1500">
                <a:solidFill>
                  <a:srgbClr val="053C6C"/>
                </a:solidFill>
                <a:latin typeface="Zurich BT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29" hasCustomPrompt="1"/>
          </p:nvPr>
        </p:nvSpPr>
        <p:spPr>
          <a:xfrm>
            <a:off x="227019" y="5029204"/>
            <a:ext cx="11581201" cy="914401"/>
          </a:xfrm>
          <a:prstGeom prst="rect">
            <a:avLst/>
          </a:prstGeom>
        </p:spPr>
        <p:txBody>
          <a:bodyPr lIns="91428" tIns="45715" rIns="91428" bIns="45715"/>
          <a:lstStyle>
            <a:lvl1pPr>
              <a:defRPr lang="en-US" sz="2000" kern="1200" dirty="0" smtClean="0">
                <a:solidFill>
                  <a:srgbClr val="053C6C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Sub Text</a:t>
            </a:r>
          </a:p>
          <a:p>
            <a:pPr lvl="0"/>
            <a:r>
              <a:rPr lang="en-US" dirty="0"/>
              <a:t>Sub Text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203205" y="237068"/>
            <a:ext cx="11684000" cy="753533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sz="3200" b="1">
                <a:solidFill>
                  <a:schemeClr val="accent2"/>
                </a:solidFill>
                <a:latin typeface="Zurich BT" panose="020B0603020202030204" pitchFamily="34" charset="0"/>
              </a:defRPr>
            </a:lvl1pPr>
          </a:lstStyle>
          <a:p>
            <a:pPr lvl="0"/>
            <a:r>
              <a:rPr lang="en-US" dirty="0"/>
              <a:t>Heading</a:t>
            </a:r>
          </a:p>
        </p:txBody>
      </p:sp>
      <p:sp>
        <p:nvSpPr>
          <p:cNvPr id="5" name="SmartArt Placeholder 4"/>
          <p:cNvSpPr>
            <a:spLocks noGrp="1"/>
          </p:cNvSpPr>
          <p:nvPr>
            <p:ph type="dgm" sz="quarter" idx="13" hasCustomPrompt="1"/>
          </p:nvPr>
        </p:nvSpPr>
        <p:spPr>
          <a:xfrm>
            <a:off x="200018" y="1295403"/>
            <a:ext cx="11685600" cy="4363156"/>
          </a:xfrm>
          <a:prstGeom prst="rect">
            <a:avLst/>
          </a:prstGeom>
        </p:spPr>
        <p:txBody>
          <a:bodyPr vert="horz" lIns="91428" tIns="45715" rIns="91428" bIns="45715"/>
          <a:lstStyle>
            <a:lvl1pPr marL="0" indent="0">
              <a:buNone/>
              <a:defRPr lang="en-US" sz="2400" b="1" kern="1200" dirty="0">
                <a:solidFill>
                  <a:srgbClr val="053C6C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Smart Art Graphic</a:t>
            </a:r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1679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9645" y="6"/>
            <a:ext cx="12200058" cy="6865201"/>
          </a:xfrm>
          <a:prstGeom prst="rect">
            <a:avLst/>
          </a:prstGeom>
        </p:spPr>
      </p:pic>
      <p:sp>
        <p:nvSpPr>
          <p:cNvPr id="10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" y="6"/>
            <a:ext cx="12196800" cy="6865201"/>
          </a:xfrm>
          <a:custGeom>
            <a:avLst/>
            <a:gdLst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0 w 12188825"/>
              <a:gd name="connsiteY3" fmla="*/ 6858000 h 6858000"/>
              <a:gd name="connsiteX4" fmla="*/ 0 w 12188825"/>
              <a:gd name="connsiteY4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801350 w 12188825"/>
              <a:gd name="connsiteY3" fmla="*/ 6848475 h 6858000"/>
              <a:gd name="connsiteX4" fmla="*/ 0 w 12188825"/>
              <a:gd name="connsiteY4" fmla="*/ 6858000 h 6858000"/>
              <a:gd name="connsiteX5" fmla="*/ 0 w 12188825"/>
              <a:gd name="connsiteY5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801350 w 12188825"/>
              <a:gd name="connsiteY3" fmla="*/ 6848475 h 6858000"/>
              <a:gd name="connsiteX4" fmla="*/ 0 w 12188825"/>
              <a:gd name="connsiteY4" fmla="*/ 6858000 h 6858000"/>
              <a:gd name="connsiteX5" fmla="*/ 0 w 12188825"/>
              <a:gd name="connsiteY5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829925 w 12188825"/>
              <a:gd name="connsiteY3" fmla="*/ 6134100 h 6858000"/>
              <a:gd name="connsiteX4" fmla="*/ 0 w 12188825"/>
              <a:gd name="connsiteY4" fmla="*/ 6858000 h 6858000"/>
              <a:gd name="connsiteX5" fmla="*/ 0 w 12188825"/>
              <a:gd name="connsiteY5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1382375 w 12188825"/>
              <a:gd name="connsiteY3" fmla="*/ 6419850 h 6858000"/>
              <a:gd name="connsiteX4" fmla="*/ 10829925 w 12188825"/>
              <a:gd name="connsiteY4" fmla="*/ 6134100 h 6858000"/>
              <a:gd name="connsiteX5" fmla="*/ 0 w 12188825"/>
              <a:gd name="connsiteY5" fmla="*/ 6858000 h 6858000"/>
              <a:gd name="connsiteX6" fmla="*/ 0 w 12188825"/>
              <a:gd name="connsiteY6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1382375 w 12188825"/>
              <a:gd name="connsiteY3" fmla="*/ 6419850 h 6858000"/>
              <a:gd name="connsiteX4" fmla="*/ 11382375 w 12188825"/>
              <a:gd name="connsiteY4" fmla="*/ 6419850 h 6858000"/>
              <a:gd name="connsiteX5" fmla="*/ 10829925 w 12188825"/>
              <a:gd name="connsiteY5" fmla="*/ 6134100 h 6858000"/>
              <a:gd name="connsiteX6" fmla="*/ 0 w 12188825"/>
              <a:gd name="connsiteY6" fmla="*/ 6858000 h 6858000"/>
              <a:gd name="connsiteX7" fmla="*/ 0 w 12188825"/>
              <a:gd name="connsiteY7" fmla="*/ 0 h 685800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1382375 w 12188825"/>
              <a:gd name="connsiteY3" fmla="*/ 6419850 h 6877050"/>
              <a:gd name="connsiteX4" fmla="*/ 10763250 w 12188825"/>
              <a:gd name="connsiteY4" fmla="*/ 6877050 h 6877050"/>
              <a:gd name="connsiteX5" fmla="*/ 10829925 w 12188825"/>
              <a:gd name="connsiteY5" fmla="*/ 61341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1353800 w 12188825"/>
              <a:gd name="connsiteY3" fmla="*/ 6838950 h 6877050"/>
              <a:gd name="connsiteX4" fmla="*/ 10763250 w 12188825"/>
              <a:gd name="connsiteY4" fmla="*/ 6877050 h 6877050"/>
              <a:gd name="connsiteX5" fmla="*/ 10829925 w 12188825"/>
              <a:gd name="connsiteY5" fmla="*/ 61341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10829925 w 12188825"/>
              <a:gd name="connsiteY4" fmla="*/ 6134100 h 6877050"/>
              <a:gd name="connsiteX5" fmla="*/ 0 w 12188825"/>
              <a:gd name="connsiteY5" fmla="*/ 6858000 h 6877050"/>
              <a:gd name="connsiteX6" fmla="*/ 0 w 12188825"/>
              <a:gd name="connsiteY6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0 w 12188825"/>
              <a:gd name="connsiteY5" fmla="*/ 6858000 h 6877050"/>
              <a:gd name="connsiteX6" fmla="*/ 0 w 12188825"/>
              <a:gd name="connsiteY6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09875 w 12188825"/>
              <a:gd name="connsiteY5" fmla="*/ 68580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09875 w 12188825"/>
              <a:gd name="connsiteY5" fmla="*/ 6858000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77050"/>
              <a:gd name="connsiteX1" fmla="*/ 12188825 w 12188825"/>
              <a:gd name="connsiteY1" fmla="*/ 0 h 6877050"/>
              <a:gd name="connsiteX2" fmla="*/ 12188825 w 12188825"/>
              <a:gd name="connsiteY2" fmla="*/ 6858000 h 6877050"/>
              <a:gd name="connsiteX3" fmla="*/ 10763250 w 12188825"/>
              <a:gd name="connsiteY3" fmla="*/ 6877050 h 6877050"/>
              <a:gd name="connsiteX4" fmla="*/ 9324975 w 12188825"/>
              <a:gd name="connsiteY4" fmla="*/ 1524000 h 6877050"/>
              <a:gd name="connsiteX5" fmla="*/ 2852329 w 12188825"/>
              <a:gd name="connsiteY5" fmla="*/ 6854734 h 6877050"/>
              <a:gd name="connsiteX6" fmla="*/ 0 w 12188825"/>
              <a:gd name="connsiteY6" fmla="*/ 6858000 h 6877050"/>
              <a:gd name="connsiteX7" fmla="*/ 0 w 12188825"/>
              <a:gd name="connsiteY7" fmla="*/ 0 h 687705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9324975 w 12188825"/>
              <a:gd name="connsiteY4" fmla="*/ 1524000 h 6858000"/>
              <a:gd name="connsiteX5" fmla="*/ 2852329 w 12188825"/>
              <a:gd name="connsiteY5" fmla="*/ 6854734 h 6858000"/>
              <a:gd name="connsiteX6" fmla="*/ 0 w 12188825"/>
              <a:gd name="connsiteY6" fmla="*/ 6858000 h 6858000"/>
              <a:gd name="connsiteX7" fmla="*/ 0 w 12188825"/>
              <a:gd name="connsiteY7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9324975 w 12188825"/>
              <a:gd name="connsiteY4" fmla="*/ 1524000 h 6858000"/>
              <a:gd name="connsiteX5" fmla="*/ 2852329 w 12188825"/>
              <a:gd name="connsiteY5" fmla="*/ 6854734 h 6858000"/>
              <a:gd name="connsiteX6" fmla="*/ 0 w 12188825"/>
              <a:gd name="connsiteY6" fmla="*/ 6858000 h 6858000"/>
              <a:gd name="connsiteX7" fmla="*/ 0 w 12188825"/>
              <a:gd name="connsiteY7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201400 w 12188825"/>
              <a:gd name="connsiteY4" fmla="*/ 603885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10950 w 12188825"/>
              <a:gd name="connsiteY4" fmla="*/ 47625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10950 w 12188825"/>
              <a:gd name="connsiteY4" fmla="*/ 47625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24975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72600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72600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72600 w 12188825"/>
              <a:gd name="connsiteY5" fmla="*/ 1524000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496675 w 12188825"/>
              <a:gd name="connsiteY4" fmla="*/ 4648200 h 6858000"/>
              <a:gd name="connsiteX5" fmla="*/ 9363075 w 12188825"/>
              <a:gd name="connsiteY5" fmla="*/ 1743075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753725 w 12188825"/>
              <a:gd name="connsiteY3" fmla="*/ 6858000 h 6858000"/>
              <a:gd name="connsiteX4" fmla="*/ 11334750 w 12188825"/>
              <a:gd name="connsiteY4" fmla="*/ 4733925 h 6858000"/>
              <a:gd name="connsiteX5" fmla="*/ 9363075 w 12188825"/>
              <a:gd name="connsiteY5" fmla="*/ 1743075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58000"/>
              <a:gd name="connsiteX1" fmla="*/ 12188825 w 12188825"/>
              <a:gd name="connsiteY1" fmla="*/ 0 h 6858000"/>
              <a:gd name="connsiteX2" fmla="*/ 12188825 w 12188825"/>
              <a:gd name="connsiteY2" fmla="*/ 6858000 h 6858000"/>
              <a:gd name="connsiteX3" fmla="*/ 10620375 w 12188825"/>
              <a:gd name="connsiteY3" fmla="*/ 6838950 h 6858000"/>
              <a:gd name="connsiteX4" fmla="*/ 11334750 w 12188825"/>
              <a:gd name="connsiteY4" fmla="*/ 4733925 h 6858000"/>
              <a:gd name="connsiteX5" fmla="*/ 9363075 w 12188825"/>
              <a:gd name="connsiteY5" fmla="*/ 1743075 h 6858000"/>
              <a:gd name="connsiteX6" fmla="*/ 2852329 w 12188825"/>
              <a:gd name="connsiteY6" fmla="*/ 6854734 h 6858000"/>
              <a:gd name="connsiteX7" fmla="*/ 0 w 12188825"/>
              <a:gd name="connsiteY7" fmla="*/ 6858000 h 6858000"/>
              <a:gd name="connsiteX8" fmla="*/ 0 w 12188825"/>
              <a:gd name="connsiteY8" fmla="*/ 0 h 6858000"/>
              <a:gd name="connsiteX0" fmla="*/ 0 w 12188825"/>
              <a:gd name="connsiteY0" fmla="*/ 0 h 6864259"/>
              <a:gd name="connsiteX1" fmla="*/ 12188825 w 12188825"/>
              <a:gd name="connsiteY1" fmla="*/ 0 h 6864259"/>
              <a:gd name="connsiteX2" fmla="*/ 12188825 w 12188825"/>
              <a:gd name="connsiteY2" fmla="*/ 6858000 h 6864259"/>
              <a:gd name="connsiteX3" fmla="*/ 10620375 w 12188825"/>
              <a:gd name="connsiteY3" fmla="*/ 6838950 h 6864259"/>
              <a:gd name="connsiteX4" fmla="*/ 11334750 w 12188825"/>
              <a:gd name="connsiteY4" fmla="*/ 4733925 h 6864259"/>
              <a:gd name="connsiteX5" fmla="*/ 9363075 w 12188825"/>
              <a:gd name="connsiteY5" fmla="*/ 1743075 h 6864259"/>
              <a:gd name="connsiteX6" fmla="*/ 3176179 w 12188825"/>
              <a:gd name="connsiteY6" fmla="*/ 6864259 h 6864259"/>
              <a:gd name="connsiteX7" fmla="*/ 0 w 12188825"/>
              <a:gd name="connsiteY7" fmla="*/ 6858000 h 6864259"/>
              <a:gd name="connsiteX8" fmla="*/ 0 w 12188825"/>
              <a:gd name="connsiteY8" fmla="*/ 0 h 6864259"/>
              <a:gd name="connsiteX0" fmla="*/ 0 w 12188825"/>
              <a:gd name="connsiteY0" fmla="*/ 0 h 6864259"/>
              <a:gd name="connsiteX1" fmla="*/ 12188825 w 12188825"/>
              <a:gd name="connsiteY1" fmla="*/ 0 h 6864259"/>
              <a:gd name="connsiteX2" fmla="*/ 12188825 w 12188825"/>
              <a:gd name="connsiteY2" fmla="*/ 6858000 h 6864259"/>
              <a:gd name="connsiteX3" fmla="*/ 10620375 w 12188825"/>
              <a:gd name="connsiteY3" fmla="*/ 6838950 h 6864259"/>
              <a:gd name="connsiteX4" fmla="*/ 11334750 w 12188825"/>
              <a:gd name="connsiteY4" fmla="*/ 4733925 h 6864259"/>
              <a:gd name="connsiteX5" fmla="*/ 9363075 w 12188825"/>
              <a:gd name="connsiteY5" fmla="*/ 1743075 h 6864259"/>
              <a:gd name="connsiteX6" fmla="*/ 3176179 w 12188825"/>
              <a:gd name="connsiteY6" fmla="*/ 6864259 h 6864259"/>
              <a:gd name="connsiteX7" fmla="*/ 0 w 12188825"/>
              <a:gd name="connsiteY7" fmla="*/ 6858000 h 6864259"/>
              <a:gd name="connsiteX8" fmla="*/ 0 w 12188825"/>
              <a:gd name="connsiteY8" fmla="*/ 0 h 6864259"/>
              <a:gd name="connsiteX0" fmla="*/ 0 w 12188825"/>
              <a:gd name="connsiteY0" fmla="*/ 0 h 6864259"/>
              <a:gd name="connsiteX1" fmla="*/ 12188825 w 12188825"/>
              <a:gd name="connsiteY1" fmla="*/ 0 h 6864259"/>
              <a:gd name="connsiteX2" fmla="*/ 12188825 w 12188825"/>
              <a:gd name="connsiteY2" fmla="*/ 6858000 h 6864259"/>
              <a:gd name="connsiteX3" fmla="*/ 10620375 w 12188825"/>
              <a:gd name="connsiteY3" fmla="*/ 6838950 h 6864259"/>
              <a:gd name="connsiteX4" fmla="*/ 11334750 w 12188825"/>
              <a:gd name="connsiteY4" fmla="*/ 4733925 h 6864259"/>
              <a:gd name="connsiteX5" fmla="*/ 9363075 w 12188825"/>
              <a:gd name="connsiteY5" fmla="*/ 1743075 h 6864259"/>
              <a:gd name="connsiteX6" fmla="*/ 3176179 w 12188825"/>
              <a:gd name="connsiteY6" fmla="*/ 6864259 h 6864259"/>
              <a:gd name="connsiteX7" fmla="*/ 0 w 12188825"/>
              <a:gd name="connsiteY7" fmla="*/ 6858000 h 6864259"/>
              <a:gd name="connsiteX8" fmla="*/ 0 w 12188825"/>
              <a:gd name="connsiteY8" fmla="*/ 0 h 6864259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534650 w 12188825"/>
              <a:gd name="connsiteY3" fmla="*/ 6867525 h 6867525"/>
              <a:gd name="connsiteX4" fmla="*/ 11334750 w 12188825"/>
              <a:gd name="connsiteY4" fmla="*/ 4733925 h 6867525"/>
              <a:gd name="connsiteX5" fmla="*/ 9363075 w 12188825"/>
              <a:gd name="connsiteY5" fmla="*/ 1743075 h 6867525"/>
              <a:gd name="connsiteX6" fmla="*/ 3176179 w 12188825"/>
              <a:gd name="connsiteY6" fmla="*/ 6864259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534650 w 12188825"/>
              <a:gd name="connsiteY3" fmla="*/ 6867525 h 6867525"/>
              <a:gd name="connsiteX4" fmla="*/ 11334750 w 12188825"/>
              <a:gd name="connsiteY4" fmla="*/ 4733925 h 6867525"/>
              <a:gd name="connsiteX5" fmla="*/ 9582122 w 12188825"/>
              <a:gd name="connsiteY5" fmla="*/ 1561848 h 6867525"/>
              <a:gd name="connsiteX6" fmla="*/ 3176179 w 12188825"/>
              <a:gd name="connsiteY6" fmla="*/ 6864259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334750 w 12188825"/>
              <a:gd name="connsiteY4" fmla="*/ 4733925 h 6867525"/>
              <a:gd name="connsiteX5" fmla="*/ 9582122 w 12188825"/>
              <a:gd name="connsiteY5" fmla="*/ 1561848 h 6867525"/>
              <a:gd name="connsiteX6" fmla="*/ 3176179 w 12188825"/>
              <a:gd name="connsiteY6" fmla="*/ 6864259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334750 w 12188825"/>
              <a:gd name="connsiteY4" fmla="*/ 4733925 h 6867525"/>
              <a:gd name="connsiteX5" fmla="*/ 9582122 w 12188825"/>
              <a:gd name="connsiteY5" fmla="*/ 1561848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334750 w 12188825"/>
              <a:gd name="connsiteY4" fmla="*/ 4733925 h 6867525"/>
              <a:gd name="connsiteX5" fmla="*/ 8924983 w 12188825"/>
              <a:gd name="connsiteY5" fmla="*/ 1561848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924983 w 12188825"/>
              <a:gd name="connsiteY5" fmla="*/ 1561848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72600 w 12188825"/>
              <a:gd name="connsiteY5" fmla="*/ 1685845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72600 w 12188825"/>
              <a:gd name="connsiteY5" fmla="*/ 1685845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2842848 w 12188825"/>
              <a:gd name="connsiteY6" fmla="*/ 6854721 h 6867525"/>
              <a:gd name="connsiteX7" fmla="*/ 0 w 12188825"/>
              <a:gd name="connsiteY7" fmla="*/ 6858000 h 6867525"/>
              <a:gd name="connsiteX8" fmla="*/ 0 w 12188825"/>
              <a:gd name="connsiteY8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2842848 w 12188825"/>
              <a:gd name="connsiteY7" fmla="*/ 6854721 h 6867525"/>
              <a:gd name="connsiteX8" fmla="*/ 0 w 12188825"/>
              <a:gd name="connsiteY8" fmla="*/ 6858000 h 6867525"/>
              <a:gd name="connsiteX9" fmla="*/ 0 w 12188825"/>
              <a:gd name="connsiteY9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2842848 w 12188825"/>
              <a:gd name="connsiteY7" fmla="*/ 6854721 h 6867525"/>
              <a:gd name="connsiteX8" fmla="*/ 0 w 12188825"/>
              <a:gd name="connsiteY8" fmla="*/ 6858000 h 6867525"/>
              <a:gd name="connsiteX9" fmla="*/ 0 w 12188825"/>
              <a:gd name="connsiteY9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2842848 w 12188825"/>
              <a:gd name="connsiteY7" fmla="*/ 6854721 h 6867525"/>
              <a:gd name="connsiteX8" fmla="*/ 0 w 12188825"/>
              <a:gd name="connsiteY8" fmla="*/ 6858000 h 6867525"/>
              <a:gd name="connsiteX9" fmla="*/ 0 w 12188825"/>
              <a:gd name="connsiteY9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11084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10695 w 12188825"/>
              <a:gd name="connsiteY5" fmla="*/ 154277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77361 w 12188825"/>
              <a:gd name="connsiteY5" fmla="*/ 1523696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77361 w 12188825"/>
              <a:gd name="connsiteY5" fmla="*/ 1523696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515456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515456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515456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48790 w 12188825"/>
              <a:gd name="connsiteY5" fmla="*/ 1542773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6783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6783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46783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9391647 w 12188825"/>
              <a:gd name="connsiteY5" fmla="*/ 1495082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477367 w 12188825"/>
              <a:gd name="connsiteY5" fmla="*/ 1619079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477367 w 12188825"/>
              <a:gd name="connsiteY5" fmla="*/ 1619079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67525"/>
              <a:gd name="connsiteX1" fmla="*/ 12188825 w 12188825"/>
              <a:gd name="connsiteY1" fmla="*/ 0 h 6867525"/>
              <a:gd name="connsiteX2" fmla="*/ 12188825 w 12188825"/>
              <a:gd name="connsiteY2" fmla="*/ 6858000 h 6867525"/>
              <a:gd name="connsiteX3" fmla="*/ 10763221 w 12188825"/>
              <a:gd name="connsiteY3" fmla="*/ 6867525 h 6867525"/>
              <a:gd name="connsiteX4" fmla="*/ 11506178 w 12188825"/>
              <a:gd name="connsiteY4" fmla="*/ 4609928 h 6867525"/>
              <a:gd name="connsiteX5" fmla="*/ 8591653 w 12188825"/>
              <a:gd name="connsiteY5" fmla="*/ 1590464 h 6867525"/>
              <a:gd name="connsiteX6" fmla="*/ 5201560 w 12188825"/>
              <a:gd name="connsiteY6" fmla="*/ 3490991 h 6867525"/>
              <a:gd name="connsiteX7" fmla="*/ 3753949 w 12188825"/>
              <a:gd name="connsiteY7" fmla="*/ 5150643 h 6867525"/>
              <a:gd name="connsiteX8" fmla="*/ 2842848 w 12188825"/>
              <a:gd name="connsiteY8" fmla="*/ 6854721 h 6867525"/>
              <a:gd name="connsiteX9" fmla="*/ 0 w 12188825"/>
              <a:gd name="connsiteY9" fmla="*/ 6858000 h 6867525"/>
              <a:gd name="connsiteX10" fmla="*/ 0 w 12188825"/>
              <a:gd name="connsiteY10" fmla="*/ 0 h 6867525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63221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63221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63221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896139"/>
              <a:gd name="connsiteX1" fmla="*/ 12188825 w 12188825"/>
              <a:gd name="connsiteY1" fmla="*/ 0 h 6896139"/>
              <a:gd name="connsiteX2" fmla="*/ 12188825 w 12188825"/>
              <a:gd name="connsiteY2" fmla="*/ 6858000 h 6896139"/>
              <a:gd name="connsiteX3" fmla="*/ 10725126 w 12188825"/>
              <a:gd name="connsiteY3" fmla="*/ 6896139 h 6896139"/>
              <a:gd name="connsiteX4" fmla="*/ 11506178 w 12188825"/>
              <a:gd name="connsiteY4" fmla="*/ 4609928 h 6896139"/>
              <a:gd name="connsiteX5" fmla="*/ 8591653 w 12188825"/>
              <a:gd name="connsiteY5" fmla="*/ 1590464 h 6896139"/>
              <a:gd name="connsiteX6" fmla="*/ 5201560 w 12188825"/>
              <a:gd name="connsiteY6" fmla="*/ 3490991 h 6896139"/>
              <a:gd name="connsiteX7" fmla="*/ 3753949 w 12188825"/>
              <a:gd name="connsiteY7" fmla="*/ 5150643 h 6896139"/>
              <a:gd name="connsiteX8" fmla="*/ 2842848 w 12188825"/>
              <a:gd name="connsiteY8" fmla="*/ 6854721 h 6896139"/>
              <a:gd name="connsiteX9" fmla="*/ 0 w 12188825"/>
              <a:gd name="connsiteY9" fmla="*/ 6858000 h 6896139"/>
              <a:gd name="connsiteX10" fmla="*/ 0 w 12188825"/>
              <a:gd name="connsiteY10" fmla="*/ 0 h 6896139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8591653 w 12188825"/>
              <a:gd name="connsiteY5" fmla="*/ 1590464 h 6877063"/>
              <a:gd name="connsiteX6" fmla="*/ 5201560 w 12188825"/>
              <a:gd name="connsiteY6" fmla="*/ 3490991 h 6877063"/>
              <a:gd name="connsiteX7" fmla="*/ 3753949 w 12188825"/>
              <a:gd name="connsiteY7" fmla="*/ 5150643 h 6877063"/>
              <a:gd name="connsiteX8" fmla="*/ 2842848 w 12188825"/>
              <a:gd name="connsiteY8" fmla="*/ 6854721 h 6877063"/>
              <a:gd name="connsiteX9" fmla="*/ 0 w 12188825"/>
              <a:gd name="connsiteY9" fmla="*/ 6858000 h 6877063"/>
              <a:gd name="connsiteX10" fmla="*/ 0 w 12188825"/>
              <a:gd name="connsiteY10" fmla="*/ 0 h 6877063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753949 w 12188825"/>
              <a:gd name="connsiteY7" fmla="*/ 5150643 h 6902412"/>
              <a:gd name="connsiteX8" fmla="*/ 2842849 w 12188825"/>
              <a:gd name="connsiteY8" fmla="*/ 6902412 h 6902412"/>
              <a:gd name="connsiteX9" fmla="*/ 0 w 12188825"/>
              <a:gd name="connsiteY9" fmla="*/ 6858000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753949 w 12188825"/>
              <a:gd name="connsiteY7" fmla="*/ 5150643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5201560 w 12188825"/>
              <a:gd name="connsiteY6" fmla="*/ 3490991 h 6902412"/>
              <a:gd name="connsiteX7" fmla="*/ 3801568 w 12188825"/>
              <a:gd name="connsiteY7" fmla="*/ 5131567 h 6902412"/>
              <a:gd name="connsiteX8" fmla="*/ 2842849 w 12188825"/>
              <a:gd name="connsiteY8" fmla="*/ 6902412 h 6902412"/>
              <a:gd name="connsiteX9" fmla="*/ 0 w 12188825"/>
              <a:gd name="connsiteY9" fmla="*/ 6886615 h 6902412"/>
              <a:gd name="connsiteX10" fmla="*/ 0 w 12188825"/>
              <a:gd name="connsiteY10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8591653 w 12188825"/>
              <a:gd name="connsiteY5" fmla="*/ 1590464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0134502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0134502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9972598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9972598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9972598 w 12188825"/>
              <a:gd name="connsiteY5" fmla="*/ 1685846 h 6902412"/>
              <a:gd name="connsiteX6" fmla="*/ 6914249 w 12188825"/>
              <a:gd name="connsiteY6" fmla="*/ 2222406 h 6902412"/>
              <a:gd name="connsiteX7" fmla="*/ 5201560 w 12188825"/>
              <a:gd name="connsiteY7" fmla="*/ 3490991 h 6902412"/>
              <a:gd name="connsiteX8" fmla="*/ 3801568 w 12188825"/>
              <a:gd name="connsiteY8" fmla="*/ 5131567 h 6902412"/>
              <a:gd name="connsiteX9" fmla="*/ 2842849 w 12188825"/>
              <a:gd name="connsiteY9" fmla="*/ 6902412 h 6902412"/>
              <a:gd name="connsiteX10" fmla="*/ 0 w 12188825"/>
              <a:gd name="connsiteY10" fmla="*/ 6886615 h 6902412"/>
              <a:gd name="connsiteX11" fmla="*/ 0 w 12188825"/>
              <a:gd name="connsiteY11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9972598 w 12188825"/>
              <a:gd name="connsiteY6" fmla="*/ 1685846 h 6902412"/>
              <a:gd name="connsiteX7" fmla="*/ 6914249 w 12188825"/>
              <a:gd name="connsiteY7" fmla="*/ 2222406 h 6902412"/>
              <a:gd name="connsiteX8" fmla="*/ 5201560 w 12188825"/>
              <a:gd name="connsiteY8" fmla="*/ 3490991 h 6902412"/>
              <a:gd name="connsiteX9" fmla="*/ 3801568 w 12188825"/>
              <a:gd name="connsiteY9" fmla="*/ 5131567 h 6902412"/>
              <a:gd name="connsiteX10" fmla="*/ 2842849 w 12188825"/>
              <a:gd name="connsiteY10" fmla="*/ 6902412 h 6902412"/>
              <a:gd name="connsiteX11" fmla="*/ 0 w 12188825"/>
              <a:gd name="connsiteY11" fmla="*/ 6886615 h 6902412"/>
              <a:gd name="connsiteX12" fmla="*/ 0 w 12188825"/>
              <a:gd name="connsiteY12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9972598 w 12188825"/>
              <a:gd name="connsiteY6" fmla="*/ 168584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9972598 w 12188825"/>
              <a:gd name="connsiteY6" fmla="*/ 168584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53548 w 12188825"/>
              <a:gd name="connsiteY6" fmla="*/ 1743076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737470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801568 w 12188825"/>
              <a:gd name="connsiteY10" fmla="*/ 5131567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2842849 w 12188825"/>
              <a:gd name="connsiteY10" fmla="*/ 6902412 h 6902412"/>
              <a:gd name="connsiteX11" fmla="*/ 0 w 12188825"/>
              <a:gd name="connsiteY11" fmla="*/ 6886615 h 6902412"/>
              <a:gd name="connsiteX12" fmla="*/ 0 w 12188825"/>
              <a:gd name="connsiteY12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902412"/>
              <a:gd name="connsiteX1" fmla="*/ 12188825 w 12188825"/>
              <a:gd name="connsiteY1" fmla="*/ 0 h 6902412"/>
              <a:gd name="connsiteX2" fmla="*/ 12188825 w 12188825"/>
              <a:gd name="connsiteY2" fmla="*/ 6858000 h 6902412"/>
              <a:gd name="connsiteX3" fmla="*/ 10725126 w 12188825"/>
              <a:gd name="connsiteY3" fmla="*/ 6877063 h 6902412"/>
              <a:gd name="connsiteX4" fmla="*/ 11506178 w 12188825"/>
              <a:gd name="connsiteY4" fmla="*/ 4609928 h 6902412"/>
              <a:gd name="connsiteX5" fmla="*/ 11323750 w 12188825"/>
              <a:gd name="connsiteY5" fmla="*/ 2813776 h 6902412"/>
              <a:gd name="connsiteX6" fmla="*/ 10382119 w 12188825"/>
              <a:gd name="connsiteY6" fmla="*/ 1771690 h 6902412"/>
              <a:gd name="connsiteX7" fmla="*/ 8704716 w 12188825"/>
              <a:gd name="connsiteY7" fmla="*/ 1573806 h 6902412"/>
              <a:gd name="connsiteX8" fmla="*/ 6914249 w 12188825"/>
              <a:gd name="connsiteY8" fmla="*/ 2222406 h 6902412"/>
              <a:gd name="connsiteX9" fmla="*/ 5201560 w 12188825"/>
              <a:gd name="connsiteY9" fmla="*/ 3490991 h 6902412"/>
              <a:gd name="connsiteX10" fmla="*/ 3647600 w 12188825"/>
              <a:gd name="connsiteY10" fmla="*/ 5322330 h 6902412"/>
              <a:gd name="connsiteX11" fmla="*/ 2842849 w 12188825"/>
              <a:gd name="connsiteY11" fmla="*/ 6902412 h 6902412"/>
              <a:gd name="connsiteX12" fmla="*/ 0 w 12188825"/>
              <a:gd name="connsiteY12" fmla="*/ 6886615 h 6902412"/>
              <a:gd name="connsiteX13" fmla="*/ 0 w 12188825"/>
              <a:gd name="connsiteY13" fmla="*/ 0 h 6902412"/>
              <a:gd name="connsiteX0" fmla="*/ 0 w 12188825"/>
              <a:gd name="connsiteY0" fmla="*/ 0 h 6886615"/>
              <a:gd name="connsiteX1" fmla="*/ 12188825 w 12188825"/>
              <a:gd name="connsiteY1" fmla="*/ 0 h 6886615"/>
              <a:gd name="connsiteX2" fmla="*/ 12188825 w 12188825"/>
              <a:gd name="connsiteY2" fmla="*/ 6858000 h 6886615"/>
              <a:gd name="connsiteX3" fmla="*/ 10725126 w 12188825"/>
              <a:gd name="connsiteY3" fmla="*/ 6877063 h 6886615"/>
              <a:gd name="connsiteX4" fmla="*/ 11506178 w 12188825"/>
              <a:gd name="connsiteY4" fmla="*/ 4609928 h 6886615"/>
              <a:gd name="connsiteX5" fmla="*/ 11323750 w 12188825"/>
              <a:gd name="connsiteY5" fmla="*/ 2813776 h 6886615"/>
              <a:gd name="connsiteX6" fmla="*/ 10382119 w 12188825"/>
              <a:gd name="connsiteY6" fmla="*/ 1771690 h 6886615"/>
              <a:gd name="connsiteX7" fmla="*/ 8704716 w 12188825"/>
              <a:gd name="connsiteY7" fmla="*/ 1573806 h 6886615"/>
              <a:gd name="connsiteX8" fmla="*/ 6914249 w 12188825"/>
              <a:gd name="connsiteY8" fmla="*/ 2222406 h 6886615"/>
              <a:gd name="connsiteX9" fmla="*/ 5201560 w 12188825"/>
              <a:gd name="connsiteY9" fmla="*/ 3490991 h 6886615"/>
              <a:gd name="connsiteX10" fmla="*/ 3647600 w 12188825"/>
              <a:gd name="connsiteY10" fmla="*/ 5322330 h 6886615"/>
              <a:gd name="connsiteX11" fmla="*/ 2842850 w 12188825"/>
              <a:gd name="connsiteY11" fmla="*/ 6878628 h 6886615"/>
              <a:gd name="connsiteX12" fmla="*/ 0 w 12188825"/>
              <a:gd name="connsiteY12" fmla="*/ 6886615 h 6886615"/>
              <a:gd name="connsiteX13" fmla="*/ 0 w 12188825"/>
              <a:gd name="connsiteY13" fmla="*/ 0 h 6886615"/>
              <a:gd name="connsiteX0" fmla="*/ 0 w 12188825"/>
              <a:gd name="connsiteY0" fmla="*/ 0 h 6886615"/>
              <a:gd name="connsiteX1" fmla="*/ 12188825 w 12188825"/>
              <a:gd name="connsiteY1" fmla="*/ 0 h 6886615"/>
              <a:gd name="connsiteX2" fmla="*/ 12188825 w 12188825"/>
              <a:gd name="connsiteY2" fmla="*/ 6858000 h 6886615"/>
              <a:gd name="connsiteX3" fmla="*/ 10725126 w 12188825"/>
              <a:gd name="connsiteY3" fmla="*/ 6877063 h 6886615"/>
              <a:gd name="connsiteX4" fmla="*/ 11506178 w 12188825"/>
              <a:gd name="connsiteY4" fmla="*/ 4609928 h 6886615"/>
              <a:gd name="connsiteX5" fmla="*/ 11323750 w 12188825"/>
              <a:gd name="connsiteY5" fmla="*/ 2813776 h 6886615"/>
              <a:gd name="connsiteX6" fmla="*/ 10382119 w 12188825"/>
              <a:gd name="connsiteY6" fmla="*/ 1771690 h 6886615"/>
              <a:gd name="connsiteX7" fmla="*/ 8704716 w 12188825"/>
              <a:gd name="connsiteY7" fmla="*/ 1573806 h 6886615"/>
              <a:gd name="connsiteX8" fmla="*/ 6914249 w 12188825"/>
              <a:gd name="connsiteY8" fmla="*/ 2222406 h 6886615"/>
              <a:gd name="connsiteX9" fmla="*/ 5201560 w 12188825"/>
              <a:gd name="connsiteY9" fmla="*/ 3490991 h 6886615"/>
              <a:gd name="connsiteX10" fmla="*/ 3647600 w 12188825"/>
              <a:gd name="connsiteY10" fmla="*/ 5322330 h 6886615"/>
              <a:gd name="connsiteX11" fmla="*/ 2848788 w 12188825"/>
              <a:gd name="connsiteY11" fmla="*/ 6872683 h 6886615"/>
              <a:gd name="connsiteX12" fmla="*/ 0 w 12188825"/>
              <a:gd name="connsiteY12" fmla="*/ 6886615 h 6886615"/>
              <a:gd name="connsiteX13" fmla="*/ 0 w 12188825"/>
              <a:gd name="connsiteY13" fmla="*/ 0 h 6886615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70773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70773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70773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46990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3223731 w 12188825"/>
              <a:gd name="connsiteY11" fmla="*/ 6046991 h 6877063"/>
              <a:gd name="connsiteX12" fmla="*/ 2848788 w 12188825"/>
              <a:gd name="connsiteY12" fmla="*/ 6872683 h 6877063"/>
              <a:gd name="connsiteX13" fmla="*/ 0 w 12188825"/>
              <a:gd name="connsiteY13" fmla="*/ 6862831 h 6877063"/>
              <a:gd name="connsiteX14" fmla="*/ 0 w 12188825"/>
              <a:gd name="connsiteY14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01560 w 12188825"/>
              <a:gd name="connsiteY9" fmla="*/ 349099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78740 w 12188825"/>
              <a:gd name="connsiteY9" fmla="*/ 3395857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5290614 w 12188825"/>
              <a:gd name="connsiteY9" fmla="*/ 3419641 h 6877063"/>
              <a:gd name="connsiteX10" fmla="*/ 3647600 w 12188825"/>
              <a:gd name="connsiteY10" fmla="*/ 5322330 h 6877063"/>
              <a:gd name="connsiteX11" fmla="*/ 2848788 w 12188825"/>
              <a:gd name="connsiteY11" fmla="*/ 6872683 h 6877063"/>
              <a:gd name="connsiteX12" fmla="*/ 0 w 12188825"/>
              <a:gd name="connsiteY12" fmla="*/ 6862831 h 6877063"/>
              <a:gd name="connsiteX13" fmla="*/ 0 w 12188825"/>
              <a:gd name="connsiteY13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7063"/>
              <a:gd name="connsiteX1" fmla="*/ 12188825 w 12188825"/>
              <a:gd name="connsiteY1" fmla="*/ 0 h 6877063"/>
              <a:gd name="connsiteX2" fmla="*/ 12188825 w 12188825"/>
              <a:gd name="connsiteY2" fmla="*/ 6858000 h 6877063"/>
              <a:gd name="connsiteX3" fmla="*/ 10725126 w 12188825"/>
              <a:gd name="connsiteY3" fmla="*/ 6877063 h 6877063"/>
              <a:gd name="connsiteX4" fmla="*/ 11506178 w 12188825"/>
              <a:gd name="connsiteY4" fmla="*/ 4609928 h 6877063"/>
              <a:gd name="connsiteX5" fmla="*/ 11323750 w 12188825"/>
              <a:gd name="connsiteY5" fmla="*/ 2813776 h 6877063"/>
              <a:gd name="connsiteX6" fmla="*/ 10382119 w 12188825"/>
              <a:gd name="connsiteY6" fmla="*/ 1771690 h 6877063"/>
              <a:gd name="connsiteX7" fmla="*/ 8704716 w 12188825"/>
              <a:gd name="connsiteY7" fmla="*/ 1573806 h 6877063"/>
              <a:gd name="connsiteX8" fmla="*/ 6914249 w 12188825"/>
              <a:gd name="connsiteY8" fmla="*/ 2222406 h 6877063"/>
              <a:gd name="connsiteX9" fmla="*/ 3647600 w 12188825"/>
              <a:gd name="connsiteY9" fmla="*/ 5322330 h 6877063"/>
              <a:gd name="connsiteX10" fmla="*/ 2848788 w 12188825"/>
              <a:gd name="connsiteY10" fmla="*/ 6872683 h 6877063"/>
              <a:gd name="connsiteX11" fmla="*/ 0 w 12188825"/>
              <a:gd name="connsiteY11" fmla="*/ 6862831 h 6877063"/>
              <a:gd name="connsiteX12" fmla="*/ 0 w 12188825"/>
              <a:gd name="connsiteY12" fmla="*/ 0 h 687706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  <a:gd name="connsiteX0" fmla="*/ 0 w 12188825"/>
              <a:gd name="connsiteY0" fmla="*/ 0 h 6872683"/>
              <a:gd name="connsiteX1" fmla="*/ 12188825 w 12188825"/>
              <a:gd name="connsiteY1" fmla="*/ 0 h 6872683"/>
              <a:gd name="connsiteX2" fmla="*/ 12188825 w 12188825"/>
              <a:gd name="connsiteY2" fmla="*/ 6858000 h 6872683"/>
              <a:gd name="connsiteX3" fmla="*/ 10742935 w 12188825"/>
              <a:gd name="connsiteY3" fmla="*/ 6865172 h 6872683"/>
              <a:gd name="connsiteX4" fmla="*/ 11506178 w 12188825"/>
              <a:gd name="connsiteY4" fmla="*/ 4609928 h 6872683"/>
              <a:gd name="connsiteX5" fmla="*/ 11323750 w 12188825"/>
              <a:gd name="connsiteY5" fmla="*/ 2813776 h 6872683"/>
              <a:gd name="connsiteX6" fmla="*/ 10382119 w 12188825"/>
              <a:gd name="connsiteY6" fmla="*/ 1771690 h 6872683"/>
              <a:gd name="connsiteX7" fmla="*/ 8704716 w 12188825"/>
              <a:gd name="connsiteY7" fmla="*/ 1573806 h 6872683"/>
              <a:gd name="connsiteX8" fmla="*/ 6914249 w 12188825"/>
              <a:gd name="connsiteY8" fmla="*/ 2222406 h 6872683"/>
              <a:gd name="connsiteX9" fmla="*/ 3647600 w 12188825"/>
              <a:gd name="connsiteY9" fmla="*/ 5322330 h 6872683"/>
              <a:gd name="connsiteX10" fmla="*/ 2848788 w 12188825"/>
              <a:gd name="connsiteY10" fmla="*/ 6872683 h 6872683"/>
              <a:gd name="connsiteX11" fmla="*/ 0 w 12188825"/>
              <a:gd name="connsiteY11" fmla="*/ 6862831 h 6872683"/>
              <a:gd name="connsiteX12" fmla="*/ 0 w 12188825"/>
              <a:gd name="connsiteY12" fmla="*/ 0 h 6872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88825" h="6872683">
                <a:moveTo>
                  <a:pt x="0" y="0"/>
                </a:moveTo>
                <a:lnTo>
                  <a:pt x="12188825" y="0"/>
                </a:lnTo>
                <a:lnTo>
                  <a:pt x="12188825" y="6858000"/>
                </a:lnTo>
                <a:lnTo>
                  <a:pt x="10742935" y="6865172"/>
                </a:lnTo>
                <a:cubicBezTo>
                  <a:pt x="10922496" y="6528610"/>
                  <a:pt x="11372828" y="5632278"/>
                  <a:pt x="11506178" y="4609928"/>
                </a:cubicBezTo>
                <a:cubicBezTo>
                  <a:pt x="11578701" y="4033467"/>
                  <a:pt x="11546463" y="3333009"/>
                  <a:pt x="11323750" y="2813776"/>
                </a:cubicBezTo>
                <a:cubicBezTo>
                  <a:pt x="11063843" y="2291547"/>
                  <a:pt x="10818626" y="2002135"/>
                  <a:pt x="10382119" y="1771690"/>
                </a:cubicBezTo>
                <a:cubicBezTo>
                  <a:pt x="9945612" y="1541245"/>
                  <a:pt x="9214441" y="1484379"/>
                  <a:pt x="8704716" y="1573806"/>
                </a:cubicBezTo>
                <a:cubicBezTo>
                  <a:pt x="8194991" y="1641679"/>
                  <a:pt x="7520743" y="1898580"/>
                  <a:pt x="6914249" y="2222406"/>
                </a:cubicBezTo>
                <a:cubicBezTo>
                  <a:pt x="6439486" y="2478515"/>
                  <a:pt x="5013860" y="3298645"/>
                  <a:pt x="3647600" y="5322330"/>
                </a:cubicBezTo>
                <a:cubicBezTo>
                  <a:pt x="3267345" y="5933513"/>
                  <a:pt x="3130193" y="6211612"/>
                  <a:pt x="2848788" y="6872683"/>
                </a:cubicBezTo>
                <a:lnTo>
                  <a:pt x="0" y="686283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txBody>
          <a:bodyPr lIns="91428" tIns="45715" rIns="91428" bIns="45715"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Picture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6399215" y="3886205"/>
            <a:ext cx="3657601" cy="990599"/>
          </a:xfrm>
          <a:prstGeom prst="rect">
            <a:avLst/>
          </a:prstGeom>
        </p:spPr>
        <p:txBody>
          <a:bodyPr lIns="91428" tIns="45715" rIns="91428" bIns="45715"/>
          <a:lstStyle>
            <a:lvl1pPr marL="0" indent="0">
              <a:buNone/>
              <a:defRPr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b="0" dirty="0"/>
              <a:t>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5655" y="4"/>
            <a:ext cx="12232800" cy="6882303"/>
          </a:xfrm>
          <a:prstGeom prst="rect">
            <a:avLst/>
          </a:prstGeom>
        </p:spPr>
      </p:pic>
      <p:pic>
        <p:nvPicPr>
          <p:cNvPr id="9" name="Picture 8" descr="logo ICICI.png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37601" y="685804"/>
            <a:ext cx="2891252" cy="99103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17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hf hdr="0" dt="0"/>
  <p:txStyles>
    <p:titleStyle>
      <a:lvl1pPr algn="l" defTabSz="914285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72" indent="-228572" algn="l" defTabSz="91428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1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418" y="5943605"/>
            <a:ext cx="718614" cy="76200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2" r:id="rId2"/>
    <p:sldLayoutId id="2147483683" r:id="rId3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24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418" y="5943605"/>
            <a:ext cx="718614" cy="762001"/>
          </a:xfrm>
          <a:prstGeom prst="rect">
            <a:avLst/>
          </a:prstGeom>
        </p:spPr>
      </p:pic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6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418" y="5943605"/>
            <a:ext cx="718614" cy="762001"/>
          </a:xfrm>
          <a:prstGeom prst="rect">
            <a:avLst/>
          </a:prstGeom>
        </p:spPr>
      </p:pic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275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 dt="0"/>
  <p:txStyles>
    <p:titleStyle>
      <a:lvl1pPr algn="ctr" defTabSz="457141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457141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457141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457141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457141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457141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45714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45714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45714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457141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45714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418" y="5943605"/>
            <a:ext cx="718614" cy="762001"/>
          </a:xfrm>
          <a:prstGeom prst="rect">
            <a:avLst/>
          </a:prstGeom>
        </p:spPr>
      </p:pic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418" y="5943605"/>
            <a:ext cx="718614" cy="762001"/>
          </a:xfrm>
          <a:prstGeom prst="rect">
            <a:avLst/>
          </a:prstGeom>
        </p:spPr>
      </p:pic>
      <p:sp>
        <p:nvSpPr>
          <p:cNvPr id="6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pPr defTabSz="1218988"/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9418" y="5943605"/>
            <a:ext cx="718614" cy="762001"/>
          </a:xfrm>
          <a:prstGeom prst="rect">
            <a:avLst/>
          </a:prstGeom>
        </p:spPr>
      </p:pic>
      <p:sp>
        <p:nvSpPr>
          <p:cNvPr id="8" name="Footer Placeholder 8"/>
          <p:cNvSpPr>
            <a:spLocks noGrp="1"/>
          </p:cNvSpPr>
          <p:nvPr>
            <p:ph type="ftr" sz="quarter" idx="3"/>
          </p:nvPr>
        </p:nvSpPr>
        <p:spPr>
          <a:xfrm>
            <a:off x="1214794" y="6422439"/>
            <a:ext cx="3860800" cy="366183"/>
          </a:xfrm>
          <a:prstGeom prst="rect">
            <a:avLst/>
          </a:prstGeom>
        </p:spPr>
        <p:txBody>
          <a:bodyPr vert="horz" lIns="91427" tIns="45713" rIns="91427" bIns="45713" rtlCol="0" anchor="t"/>
          <a:lstStyle>
            <a:lvl1pPr algn="l">
              <a:defRPr lang="en-US" sz="1600" kern="1200" dirty="0">
                <a:solidFill>
                  <a:srgbClr val="1F497D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1218988"/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199818" y="6415626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lvl1pPr algn="r">
              <a:defRPr sz="1200">
                <a:solidFill>
                  <a:schemeClr val="tx2"/>
                </a:solidFill>
                <a:latin typeface="Zurich Lt BT" pitchFamily="34" charset="0"/>
              </a:defRPr>
            </a:lvl1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‹#›</a:t>
            </a:fld>
            <a:endParaRPr lang="en-US" dirty="0">
              <a:solidFill>
                <a:srgbClr val="1F497D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dt="0"/>
  <p:txStyles>
    <p:titleStyle>
      <a:lvl1pPr algn="ctr" defTabSz="914285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7" indent="-342857" algn="l" defTabSz="91428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8" indent="-285714" algn="l" defTabSz="914285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6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0" indent="-228572" algn="l" defTabSz="914285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43" indent="-228572" algn="l" defTabSz="914285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87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28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72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15" indent="-228572" algn="l" defTabSz="914285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1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5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8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72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13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57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44" algn="l" defTabSz="91428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18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2.svg"/><Relationship Id="rId15" Type="http://schemas.openxmlformats.org/officeDocument/2006/relationships/image" Target="../media/image36.svg"/><Relationship Id="rId10" Type="http://schemas.openxmlformats.org/officeDocument/2006/relationships/image" Target="../media/image31.png"/><Relationship Id="rId4" Type="http://schemas.openxmlformats.org/officeDocument/2006/relationships/image" Target="../media/image21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479554" y="3352800"/>
            <a:ext cx="7543800" cy="1447800"/>
          </a:xfrm>
        </p:spPr>
        <p:txBody>
          <a:bodyPr/>
          <a:lstStyle/>
          <a:p>
            <a:r>
              <a:rPr lang="en-US" dirty="0"/>
              <a:t>E-Collection API 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fld id="{0498CDE3-9C93-46B8-B79D-FDF3229C59A0}" type="datetime4">
              <a:rPr lang="en-US" smtClean="0"/>
              <a:pPr/>
              <a:t>December 19, 2025</a:t>
            </a:fld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9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210945"/>
            <a:ext cx="11684000" cy="480121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841917"/>
                </a:solidFill>
                <a:latin typeface="Mulish" pitchFamily="2" charset="0"/>
              </a:rPr>
              <a:t>What is e-Collection</a:t>
            </a:r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124323" y="1828800"/>
            <a:ext cx="11683607" cy="3733800"/>
          </a:xfrm>
          <a:prstGeom prst="rect">
            <a:avLst/>
          </a:prstGeom>
        </p:spPr>
        <p:txBody>
          <a:bodyPr/>
          <a:lstStyle>
            <a:lvl1pPr marL="342857" indent="-342857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58" indent="-285714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56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0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43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87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28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72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15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spcBef>
                <a:spcPts val="400"/>
              </a:spcBef>
              <a:buClr>
                <a:srgbClr val="FA8900"/>
              </a:buClr>
              <a:buSzPct val="135000"/>
              <a:tabLst>
                <a:tab pos="222250" algn="l"/>
                <a:tab pos="679450" algn="l"/>
                <a:tab pos="1136650" algn="l"/>
                <a:tab pos="1593850" algn="l"/>
                <a:tab pos="2051050" algn="l"/>
                <a:tab pos="2508250" algn="l"/>
                <a:tab pos="2965450" algn="l"/>
                <a:tab pos="3422650" algn="l"/>
                <a:tab pos="3879850" algn="l"/>
                <a:tab pos="4337050" algn="l"/>
                <a:tab pos="4794250" algn="l"/>
                <a:tab pos="5251450" algn="l"/>
                <a:tab pos="5708650" algn="l"/>
                <a:tab pos="6165850" algn="l"/>
                <a:tab pos="6623050" algn="l"/>
                <a:tab pos="7080250" algn="l"/>
                <a:tab pos="7537450" algn="l"/>
                <a:tab pos="7994650" algn="l"/>
                <a:tab pos="8451850" algn="l"/>
                <a:tab pos="8909050" algn="l"/>
                <a:tab pos="9366250" algn="l"/>
              </a:tabLst>
            </a:pPr>
            <a:r>
              <a:rPr lang="en-US" sz="2000" b="1" dirty="0">
                <a:solidFill>
                  <a:srgbClr val="00004D"/>
                </a:solidFill>
                <a:latin typeface="Mulish" pitchFamily="2" charset="0"/>
              </a:rPr>
              <a:t>E Collection product facilitates clients to get the funds in Virtual Account Number from payer through inward transactions like 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Mulish" pitchFamily="2" charset="0"/>
              </a:rPr>
              <a:t>NEFT, RTGS, UPI, IMPS &amp; FT </a:t>
            </a:r>
            <a:r>
              <a:rPr lang="en-US" sz="2000" b="1" dirty="0">
                <a:solidFill>
                  <a:srgbClr val="00004D"/>
                </a:solidFill>
                <a:latin typeface="Mulish" pitchFamily="2" charset="0"/>
              </a:rPr>
              <a:t>in there account </a:t>
            </a:r>
          </a:p>
          <a:p>
            <a:pPr algn="just">
              <a:spcBef>
                <a:spcPts val="400"/>
              </a:spcBef>
              <a:buClr>
                <a:srgbClr val="FA8900"/>
              </a:buClr>
              <a:buSzPct val="135000"/>
              <a:tabLst>
                <a:tab pos="222250" algn="l"/>
                <a:tab pos="679450" algn="l"/>
                <a:tab pos="1136650" algn="l"/>
                <a:tab pos="1593850" algn="l"/>
                <a:tab pos="2051050" algn="l"/>
                <a:tab pos="2508250" algn="l"/>
                <a:tab pos="2965450" algn="l"/>
                <a:tab pos="3422650" algn="l"/>
                <a:tab pos="3879850" algn="l"/>
                <a:tab pos="4337050" algn="l"/>
                <a:tab pos="4794250" algn="l"/>
                <a:tab pos="5251450" algn="l"/>
                <a:tab pos="5708650" algn="l"/>
                <a:tab pos="6165850" algn="l"/>
                <a:tab pos="6623050" algn="l"/>
                <a:tab pos="7080250" algn="l"/>
                <a:tab pos="7537450" algn="l"/>
                <a:tab pos="7994650" algn="l"/>
                <a:tab pos="8451850" algn="l"/>
                <a:tab pos="8909050" algn="l"/>
                <a:tab pos="9366250" algn="l"/>
              </a:tabLst>
            </a:pPr>
            <a:endParaRPr lang="en-US" sz="2000" b="1" dirty="0">
              <a:solidFill>
                <a:srgbClr val="00004D"/>
              </a:solidFill>
              <a:latin typeface="Mulish" pitchFamily="2" charset="0"/>
            </a:endParaRPr>
          </a:p>
          <a:p>
            <a:pPr marL="342900" indent="-342900" algn="just">
              <a:spcBef>
                <a:spcPts val="400"/>
              </a:spcBef>
              <a:buClr>
                <a:srgbClr val="FA8900"/>
              </a:buClr>
              <a:buSzPct val="135000"/>
              <a:tabLst>
                <a:tab pos="222250" algn="l"/>
                <a:tab pos="679450" algn="l"/>
                <a:tab pos="1136650" algn="l"/>
                <a:tab pos="1593850" algn="l"/>
                <a:tab pos="2051050" algn="l"/>
                <a:tab pos="2508250" algn="l"/>
                <a:tab pos="2965450" algn="l"/>
                <a:tab pos="3422650" algn="l"/>
                <a:tab pos="3879850" algn="l"/>
                <a:tab pos="4337050" algn="l"/>
                <a:tab pos="4794250" algn="l"/>
                <a:tab pos="5251450" algn="l"/>
                <a:tab pos="5708650" algn="l"/>
                <a:tab pos="6165850" algn="l"/>
                <a:tab pos="6623050" algn="l"/>
                <a:tab pos="7080250" algn="l"/>
                <a:tab pos="7537450" algn="l"/>
                <a:tab pos="7994650" algn="l"/>
                <a:tab pos="8451850" algn="l"/>
                <a:tab pos="8909050" algn="l"/>
                <a:tab pos="9366250" algn="l"/>
              </a:tabLst>
            </a:pPr>
            <a:r>
              <a:rPr lang="en-US" sz="2000" b="1" dirty="0">
                <a:solidFill>
                  <a:srgbClr val="00004D"/>
                </a:solidFill>
                <a:latin typeface="Mulish" pitchFamily="2" charset="0"/>
              </a:rPr>
              <a:t>The product focusses on 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Mulish" pitchFamily="2" charset="0"/>
              </a:rPr>
              <a:t>Corporates/ Schools / Micro Finance / Loan Disbursing Companies / Government Entities (utilities payment)</a:t>
            </a:r>
            <a:r>
              <a:rPr lang="en-US" sz="2000" b="1" dirty="0">
                <a:solidFill>
                  <a:srgbClr val="00004D"/>
                </a:solidFill>
                <a:latin typeface="Mulish" pitchFamily="2" charset="0"/>
              </a:rPr>
              <a:t> with large vendor/consumer database needing regularly to remit money through electronic modes for e.g. B2B/ B2C/ channel partners/ utility service provider companies. </a:t>
            </a:r>
          </a:p>
          <a:p>
            <a:pPr marL="0" indent="0" algn="just">
              <a:spcBef>
                <a:spcPts val="400"/>
              </a:spcBef>
              <a:buClr>
                <a:srgbClr val="FA8900"/>
              </a:buClr>
              <a:buSzPct val="135000"/>
              <a:buNone/>
              <a:tabLst>
                <a:tab pos="222250" algn="l"/>
                <a:tab pos="679450" algn="l"/>
                <a:tab pos="1136650" algn="l"/>
                <a:tab pos="1593850" algn="l"/>
                <a:tab pos="2051050" algn="l"/>
                <a:tab pos="2508250" algn="l"/>
                <a:tab pos="2965450" algn="l"/>
                <a:tab pos="3422650" algn="l"/>
                <a:tab pos="3879850" algn="l"/>
                <a:tab pos="4337050" algn="l"/>
                <a:tab pos="4794250" algn="l"/>
                <a:tab pos="5251450" algn="l"/>
                <a:tab pos="5708650" algn="l"/>
                <a:tab pos="6165850" algn="l"/>
                <a:tab pos="6623050" algn="l"/>
                <a:tab pos="7080250" algn="l"/>
                <a:tab pos="7537450" algn="l"/>
                <a:tab pos="7994650" algn="l"/>
                <a:tab pos="8451850" algn="l"/>
                <a:tab pos="8909050" algn="l"/>
                <a:tab pos="9366250" algn="l"/>
              </a:tabLst>
            </a:pPr>
            <a:endParaRPr lang="en-US" sz="2000" b="1" dirty="0">
              <a:solidFill>
                <a:srgbClr val="00004D"/>
              </a:solidFill>
              <a:latin typeface="Mulish" pitchFamily="2" charset="0"/>
            </a:endParaRPr>
          </a:p>
          <a:p>
            <a:pPr marL="342900" indent="-342900" algn="just">
              <a:spcBef>
                <a:spcPts val="400"/>
              </a:spcBef>
              <a:buClr>
                <a:srgbClr val="FA8900"/>
              </a:buClr>
              <a:buSzPct val="135000"/>
              <a:tabLst>
                <a:tab pos="222250" algn="l"/>
                <a:tab pos="679450" algn="l"/>
                <a:tab pos="1136650" algn="l"/>
                <a:tab pos="1593850" algn="l"/>
                <a:tab pos="2051050" algn="l"/>
                <a:tab pos="2508250" algn="l"/>
                <a:tab pos="2965450" algn="l"/>
                <a:tab pos="3422650" algn="l"/>
                <a:tab pos="3879850" algn="l"/>
                <a:tab pos="4337050" algn="l"/>
                <a:tab pos="4794250" algn="l"/>
                <a:tab pos="5251450" algn="l"/>
                <a:tab pos="5708650" algn="l"/>
                <a:tab pos="6165850" algn="l"/>
                <a:tab pos="6623050" algn="l"/>
                <a:tab pos="7080250" algn="l"/>
                <a:tab pos="7537450" algn="l"/>
                <a:tab pos="7994650" algn="l"/>
                <a:tab pos="8451850" algn="l"/>
                <a:tab pos="8909050" algn="l"/>
                <a:tab pos="9366250" algn="l"/>
              </a:tabLst>
            </a:pPr>
            <a:r>
              <a:rPr lang="en-US" sz="2000" b="1" dirty="0">
                <a:solidFill>
                  <a:srgbClr val="00004D"/>
                </a:solidFill>
                <a:latin typeface="Mulish" pitchFamily="2" charset="0"/>
              </a:rPr>
              <a:t>This is a 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Mulish" pitchFamily="2" charset="0"/>
              </a:rPr>
              <a:t>flexible and customizable solution </a:t>
            </a:r>
            <a:r>
              <a:rPr lang="en-US" sz="2000" b="1" dirty="0">
                <a:solidFill>
                  <a:srgbClr val="00004D"/>
                </a:solidFill>
                <a:latin typeface="Mulish" pitchFamily="2" charset="0"/>
              </a:rPr>
              <a:t>which expedites the collections process for clients and provides them with 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Mulish" pitchFamily="2" charset="0"/>
              </a:rPr>
              <a:t>timely MIS.</a:t>
            </a:r>
          </a:p>
          <a:p>
            <a:pPr algn="just">
              <a:spcBef>
                <a:spcPts val="400"/>
              </a:spcBef>
              <a:buClr>
                <a:srgbClr val="FA8900"/>
              </a:buClr>
              <a:buSzPct val="135000"/>
              <a:tabLst>
                <a:tab pos="222250" algn="l"/>
                <a:tab pos="679450" algn="l"/>
                <a:tab pos="1136650" algn="l"/>
                <a:tab pos="1593850" algn="l"/>
                <a:tab pos="2051050" algn="l"/>
                <a:tab pos="2508250" algn="l"/>
                <a:tab pos="2965450" algn="l"/>
                <a:tab pos="3422650" algn="l"/>
                <a:tab pos="3879850" algn="l"/>
                <a:tab pos="4337050" algn="l"/>
                <a:tab pos="4794250" algn="l"/>
                <a:tab pos="5251450" algn="l"/>
                <a:tab pos="5708650" algn="l"/>
                <a:tab pos="6165850" algn="l"/>
                <a:tab pos="6623050" algn="l"/>
                <a:tab pos="7080250" algn="l"/>
                <a:tab pos="7537450" algn="l"/>
                <a:tab pos="7994650" algn="l"/>
                <a:tab pos="8451850" algn="l"/>
                <a:tab pos="8909050" algn="l"/>
                <a:tab pos="9366250" algn="l"/>
              </a:tabLst>
            </a:pPr>
            <a:endParaRPr lang="en-US" sz="2000" b="1" dirty="0">
              <a:solidFill>
                <a:srgbClr val="00004D"/>
              </a:solidFill>
              <a:latin typeface="Mulish" pitchFamily="2" charset="0"/>
            </a:endParaRPr>
          </a:p>
        </p:txBody>
      </p:sp>
      <p:sp>
        <p:nvSpPr>
          <p:cNvPr id="9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199818" y="6415628"/>
            <a:ext cx="609600" cy="366183"/>
          </a:xfrm>
        </p:spPr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2</a:t>
            </a:fld>
            <a:endParaRPr lang="en-US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38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210945"/>
            <a:ext cx="11684000" cy="480121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841917"/>
                </a:solidFill>
                <a:latin typeface="Mulish" pitchFamily="2" charset="0"/>
              </a:rPr>
              <a:t>Basics of Virtual ID creation</a:t>
            </a:r>
          </a:p>
        </p:txBody>
      </p:sp>
      <p:graphicFrame>
        <p:nvGraphicFramePr>
          <p:cNvPr id="12" name="SmartArt Placeholder 7"/>
          <p:cNvGraphicFramePr>
            <a:graphicFrameLocks noGrp="1"/>
          </p:cNvGraphicFramePr>
          <p:nvPr>
            <p:ph type="dgm" sz="quarter" idx="13"/>
            <p:extLst>
              <p:ext uri="{D42A27DB-BD31-4B8C-83A1-F6EECF244321}">
                <p14:modId xmlns:p14="http://schemas.microsoft.com/office/powerpoint/2010/main" val="3144743208"/>
              </p:ext>
            </p:extLst>
          </p:nvPr>
        </p:nvGraphicFramePr>
        <p:xfrm>
          <a:off x="203205" y="866417"/>
          <a:ext cx="11453807" cy="27473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199818" y="6415628"/>
            <a:ext cx="609600" cy="366183"/>
          </a:xfrm>
        </p:spPr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3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5212" y="6172200"/>
            <a:ext cx="1028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Note: </a:t>
            </a:r>
          </a:p>
          <a:p>
            <a:r>
              <a:rPr lang="en-US" sz="1200" b="1" dirty="0">
                <a:latin typeface="Mulish" pitchFamily="2" charset="0"/>
              </a:rPr>
              <a:t>As per client code length, IFSC to be given to payer by Client. </a:t>
            </a:r>
            <a:r>
              <a:rPr lang="en-US" sz="1200" b="1" u="sng" dirty="0">
                <a:latin typeface="Mulish" pitchFamily="2" charset="0"/>
              </a:rPr>
              <a:t>Branch IFSC is not applicable. </a:t>
            </a:r>
          </a:p>
          <a:p>
            <a:r>
              <a:rPr lang="en-US" sz="1200" b="1" dirty="0">
                <a:latin typeface="Mulish" pitchFamily="2" charset="0"/>
              </a:rPr>
              <a:t>Only one mentioned in table is applicable</a:t>
            </a:r>
            <a:endParaRPr lang="en-IN" sz="1200" b="1" dirty="0">
              <a:latin typeface="Mulish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AA905-F03F-1F23-2717-1A871D55ED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4412" y="3650507"/>
            <a:ext cx="8526065" cy="25625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7BAD4F-CE92-8FDC-5A07-482D1D93731E}"/>
              </a:ext>
            </a:extLst>
          </p:cNvPr>
          <p:cNvSpPr txBox="1"/>
          <p:nvPr/>
        </p:nvSpPr>
        <p:spPr>
          <a:xfrm>
            <a:off x="586105" y="4285467"/>
            <a:ext cx="12030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EXAMPLE</a:t>
            </a:r>
            <a:endParaRPr lang="en-IN" sz="1200" b="1" dirty="0">
              <a:latin typeface="Mulish" pitchFamily="2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2926FD-A359-D7BB-F4C1-5F67D5547853}"/>
              </a:ext>
            </a:extLst>
          </p:cNvPr>
          <p:cNvCxnSpPr/>
          <p:nvPr/>
        </p:nvCxnSpPr>
        <p:spPr>
          <a:xfrm>
            <a:off x="1522412" y="4419600"/>
            <a:ext cx="5334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38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4</a:t>
            </a:fld>
            <a:endParaRPr lang="en-US" dirty="0">
              <a:solidFill>
                <a:srgbClr val="1F497D"/>
              </a:solidFill>
            </a:endParaRPr>
          </a:p>
        </p:txBody>
      </p:sp>
      <p:pic>
        <p:nvPicPr>
          <p:cNvPr id="1026" name="Picture 2" descr="Merchant icon from affiliate marketing collection Vector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0" t="5000" r="18919" b="15000"/>
          <a:stretch/>
        </p:blipFill>
        <p:spPr bwMode="auto">
          <a:xfrm>
            <a:off x="531812" y="1143000"/>
            <a:ext cx="1447800" cy="1781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2234347" y="1981200"/>
            <a:ext cx="1700331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93912" y="1381036"/>
            <a:ext cx="1981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Mulish" pitchFamily="2" charset="0"/>
              </a:rPr>
              <a:t>Merchant will assign/share Virtual id’s to Payers</a:t>
            </a:r>
          </a:p>
          <a:p>
            <a:pPr algn="ctr"/>
            <a:r>
              <a:rPr lang="en-US" sz="1100" b="1" dirty="0">
                <a:latin typeface="Mulish" pitchFamily="2" charset="0"/>
              </a:rPr>
              <a:t>Along with IFSC</a:t>
            </a:r>
            <a:endParaRPr lang="en-IN" sz="1100" b="1" dirty="0">
              <a:latin typeface="Mulish" pitchFamily="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r="33919"/>
          <a:stretch/>
        </p:blipFill>
        <p:spPr>
          <a:xfrm>
            <a:off x="4722812" y="1295400"/>
            <a:ext cx="914400" cy="102913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r="33919"/>
          <a:stretch/>
        </p:blipFill>
        <p:spPr>
          <a:xfrm>
            <a:off x="6432893" y="1287231"/>
            <a:ext cx="914400" cy="102913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r="33919"/>
          <a:stretch/>
        </p:blipFill>
        <p:spPr>
          <a:xfrm>
            <a:off x="8248329" y="1261819"/>
            <a:ext cx="914400" cy="10291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3205" y="2937199"/>
            <a:ext cx="2709795" cy="646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Mulish" pitchFamily="2" charset="0"/>
              </a:rPr>
              <a:t>E.g., Merchant E Collection </a:t>
            </a:r>
            <a:br>
              <a:rPr lang="en-US" sz="1200" b="1" dirty="0">
                <a:latin typeface="Mulish" pitchFamily="2" charset="0"/>
              </a:rPr>
            </a:br>
            <a:r>
              <a:rPr lang="en-US" sz="1200" b="1" dirty="0">
                <a:latin typeface="Mulish" pitchFamily="2" charset="0"/>
              </a:rPr>
              <a:t>client Code is</a:t>
            </a:r>
            <a:br>
              <a:rPr lang="en-US" sz="1200" b="1" dirty="0">
                <a:latin typeface="Mulish" pitchFamily="2" charset="0"/>
              </a:rPr>
            </a:br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APMC12</a:t>
            </a:r>
            <a:r>
              <a:rPr lang="en-US" sz="1200" b="1" dirty="0">
                <a:latin typeface="Mulish" pitchFamily="2" charset="0"/>
              </a:rPr>
              <a:t> (6 digit)</a:t>
            </a:r>
            <a:endParaRPr lang="en-IN" sz="1200" b="1" dirty="0">
              <a:latin typeface="Mulish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62629" y="835223"/>
            <a:ext cx="1114782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Mulish" pitchFamily="2" charset="0"/>
              </a:rPr>
              <a:t>Payer 1</a:t>
            </a:r>
            <a:endParaRPr lang="en-IN" sz="1200" b="1" dirty="0">
              <a:latin typeface="Mulish" pitchFamily="2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19413" y="835222"/>
            <a:ext cx="1114782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Mulish" pitchFamily="2" charset="0"/>
              </a:rPr>
              <a:t>Payer 2</a:t>
            </a:r>
            <a:endParaRPr lang="en-IN" sz="1200" b="1" dirty="0">
              <a:latin typeface="Mulish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48138" y="844563"/>
            <a:ext cx="1114782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Mulish" pitchFamily="2" charset="0"/>
              </a:rPr>
              <a:t>Payer 3</a:t>
            </a:r>
            <a:endParaRPr lang="en-IN" sz="1200" b="1" dirty="0">
              <a:latin typeface="Mulish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58630" y="2428178"/>
            <a:ext cx="1694505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1200" b="1" dirty="0">
                <a:latin typeface="Mulish" pitchFamily="2" charset="0"/>
              </a:rPr>
              <a:t>Virtual A/c no:</a:t>
            </a:r>
            <a:br>
              <a:rPr lang="en-US" sz="1200" b="1" dirty="0">
                <a:latin typeface="Mulish" pitchFamily="2" charset="0"/>
              </a:rPr>
            </a:br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APMC12</a:t>
            </a: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Mulish" pitchFamily="2" charset="0"/>
              </a:rPr>
              <a:t>9920373</a:t>
            </a:r>
            <a:b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Mulish" pitchFamily="2" charset="0"/>
              </a:rPr>
            </a:br>
            <a:b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Mulish" pitchFamily="2" charset="0"/>
              </a:rPr>
            </a:b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Mulish" pitchFamily="2" charset="0"/>
              </a:rPr>
              <a:t>IFSC: </a:t>
            </a:r>
            <a:r>
              <a:rPr lang="en-US" sz="1200" b="1" dirty="0">
                <a:latin typeface="Mulish" pitchFamily="2" charset="0"/>
              </a:rPr>
              <a:t>ICIC0000</a:t>
            </a:r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106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92788" y="2412989"/>
            <a:ext cx="1778024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Mulish" pitchFamily="2" charset="0"/>
              </a:rPr>
              <a:t>Virtual A/c no.:</a:t>
            </a:r>
            <a:br>
              <a:rPr lang="en-US" sz="1200" b="1" dirty="0">
                <a:latin typeface="Mulish" pitchFamily="2" charset="0"/>
              </a:rPr>
            </a:br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APMC12</a:t>
            </a: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Mulish" pitchFamily="2" charset="0"/>
              </a:rPr>
              <a:t>001234</a:t>
            </a:r>
          </a:p>
          <a:p>
            <a:pPr algn="ctr"/>
            <a:endParaRPr lang="en-US" sz="1200" b="1" dirty="0">
              <a:solidFill>
                <a:schemeClr val="accent3">
                  <a:lumMod val="75000"/>
                </a:schemeClr>
              </a:solidFill>
              <a:latin typeface="Mulish" pitchFamily="2" charset="0"/>
            </a:endParaRPr>
          </a:p>
          <a:p>
            <a:pPr algn="ctr"/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Mulish" pitchFamily="2" charset="0"/>
              </a:rPr>
              <a:t>IFSC: </a:t>
            </a:r>
            <a:r>
              <a:rPr lang="en-US" sz="1200" b="1" dirty="0">
                <a:latin typeface="Mulish" pitchFamily="2" charset="0"/>
              </a:rPr>
              <a:t>ICIC0000</a:t>
            </a:r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106</a:t>
            </a:r>
            <a:endParaRPr lang="en-IN" sz="1200" b="1" dirty="0">
              <a:solidFill>
                <a:schemeClr val="accent3">
                  <a:lumMod val="75000"/>
                </a:schemeClr>
              </a:solidFill>
              <a:latin typeface="Mulish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97788" y="2412988"/>
            <a:ext cx="1778024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Mulish" pitchFamily="2" charset="0"/>
              </a:rPr>
              <a:t>Virtual A/c No.:</a:t>
            </a:r>
            <a:br>
              <a:rPr lang="en-US" sz="1200" b="1" dirty="0">
                <a:latin typeface="Mulish" pitchFamily="2" charset="0"/>
              </a:rPr>
            </a:br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APMC12</a:t>
            </a:r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Mulish" pitchFamily="2" charset="0"/>
              </a:rPr>
              <a:t>BBU123</a:t>
            </a:r>
          </a:p>
          <a:p>
            <a:pPr algn="ctr"/>
            <a:endParaRPr lang="en-US" sz="1200" b="1" dirty="0">
              <a:solidFill>
                <a:schemeClr val="accent3">
                  <a:lumMod val="75000"/>
                </a:schemeClr>
              </a:solidFill>
              <a:latin typeface="Mulish" pitchFamily="2" charset="0"/>
            </a:endParaRPr>
          </a:p>
          <a:p>
            <a:pPr algn="ctr"/>
            <a:r>
              <a:rPr lang="en-US" sz="1200" b="1" dirty="0">
                <a:solidFill>
                  <a:schemeClr val="accent3">
                    <a:lumMod val="75000"/>
                  </a:schemeClr>
                </a:solidFill>
                <a:latin typeface="Mulish" pitchFamily="2" charset="0"/>
              </a:rPr>
              <a:t>IFSC: </a:t>
            </a:r>
            <a:r>
              <a:rPr lang="en-US" sz="1200" b="1" dirty="0">
                <a:latin typeface="Mulish" pitchFamily="2" charset="0"/>
              </a:rPr>
              <a:t>ICIC0000</a:t>
            </a:r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106</a:t>
            </a:r>
            <a:endParaRPr lang="en-IN" sz="1200" b="1" dirty="0">
              <a:solidFill>
                <a:schemeClr val="accent3">
                  <a:lumMod val="75000"/>
                </a:schemeClr>
              </a:solidFill>
              <a:latin typeface="Mulish" pitchFamily="2" charset="0"/>
            </a:endParaRPr>
          </a:p>
        </p:txBody>
      </p:sp>
      <p:sp>
        <p:nvSpPr>
          <p:cNvPr id="2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210945"/>
            <a:ext cx="11684000" cy="480121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841917"/>
                </a:solidFill>
                <a:latin typeface="Mulish" pitchFamily="2" charset="0"/>
              </a:rPr>
              <a:t>Pictorial Representation of How E-Collection Works</a:t>
            </a:r>
          </a:p>
        </p:txBody>
      </p:sp>
      <p:cxnSp>
        <p:nvCxnSpPr>
          <p:cNvPr id="23" name="Straight Arrow Connector 22"/>
          <p:cNvCxnSpPr>
            <a:cxnSpLocks/>
          </p:cNvCxnSpPr>
          <p:nvPr/>
        </p:nvCxnSpPr>
        <p:spPr>
          <a:xfrm>
            <a:off x="9675812" y="1951704"/>
            <a:ext cx="1981201" cy="1875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523418" y="1303104"/>
            <a:ext cx="19812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Mulish" pitchFamily="2" charset="0"/>
              </a:rPr>
              <a:t>Payer will login to his/her </a:t>
            </a:r>
            <a:r>
              <a:rPr lang="en-US" sz="11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Netbanking</a:t>
            </a:r>
            <a:r>
              <a:rPr lang="en-US" sz="11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 or UPI App</a:t>
            </a:r>
          </a:p>
          <a:p>
            <a:pPr algn="ctr"/>
            <a:r>
              <a:rPr lang="en-US" sz="1100" b="1" dirty="0">
                <a:latin typeface="Mulish" pitchFamily="2" charset="0"/>
              </a:rPr>
              <a:t>To make Payment</a:t>
            </a:r>
            <a:endParaRPr lang="en-IN" sz="1100" b="1" dirty="0">
              <a:latin typeface="Mulish" pitchFamily="2" charset="0"/>
            </a:endParaRPr>
          </a:p>
        </p:txBody>
      </p:sp>
      <p:pic>
        <p:nvPicPr>
          <p:cNvPr id="1030" name="Picture 6" descr="892 Netbanking Icons - Free in SVG, PNG, ICO - IconScout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41" t="24264" r="13971" b="24755"/>
          <a:stretch/>
        </p:blipFill>
        <p:spPr bwMode="auto">
          <a:xfrm>
            <a:off x="9828212" y="2013951"/>
            <a:ext cx="848528" cy="612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UPI icon PNG and SVG Vector Free Downloa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9503" y="2626777"/>
            <a:ext cx="757237" cy="450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Arrow Connector 26"/>
          <p:cNvCxnSpPr/>
          <p:nvPr/>
        </p:nvCxnSpPr>
        <p:spPr>
          <a:xfrm flipH="1">
            <a:off x="10671291" y="3124200"/>
            <a:ext cx="1" cy="5079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443" y="3699505"/>
            <a:ext cx="1409700" cy="14097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287789" y="5189353"/>
            <a:ext cx="2767007" cy="6001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Mulish" pitchFamily="2" charset="0"/>
              </a:rPr>
              <a:t>Bank will Verify the </a:t>
            </a:r>
            <a:r>
              <a:rPr lang="en-US" sz="1100" b="1" dirty="0">
                <a:solidFill>
                  <a:srgbClr val="C00000"/>
                </a:solidFill>
                <a:latin typeface="Mulish" pitchFamily="2" charset="0"/>
              </a:rPr>
              <a:t>Client Code </a:t>
            </a:r>
            <a:r>
              <a:rPr lang="en-US" sz="1100" b="1" dirty="0">
                <a:latin typeface="Mulish" pitchFamily="2" charset="0"/>
              </a:rPr>
              <a:t>and if exist for E-Collection then Credit Funds to </a:t>
            </a:r>
            <a:r>
              <a:rPr lang="en-US" sz="1100" b="1" dirty="0">
                <a:solidFill>
                  <a:srgbClr val="C00000"/>
                </a:solidFill>
                <a:latin typeface="Mulish" pitchFamily="2" charset="0"/>
              </a:rPr>
              <a:t>Client’s Current Account</a:t>
            </a:r>
            <a:endParaRPr lang="en-IN" sz="1100" b="1" dirty="0">
              <a:solidFill>
                <a:srgbClr val="C00000"/>
              </a:solidFill>
              <a:latin typeface="Mulish" pitchFamily="2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913000" y="2057400"/>
            <a:ext cx="447911" cy="373330"/>
          </a:xfrm>
          <a:prstGeom prst="ellipse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Mulish" pitchFamily="2" charset="0"/>
              </a:rPr>
              <a:t>1</a:t>
            </a:r>
            <a:endParaRPr lang="en-IN" sz="1400" b="1" dirty="0">
              <a:latin typeface="Mulish" pitchFamily="2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10278385" y="898651"/>
            <a:ext cx="447911" cy="373330"/>
          </a:xfrm>
          <a:prstGeom prst="ellipse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Mulish" pitchFamily="2" charset="0"/>
              </a:rPr>
              <a:t>2</a:t>
            </a:r>
            <a:endParaRPr lang="en-IN" sz="1400" b="1" dirty="0">
              <a:latin typeface="Mulish" pitchFamily="2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0850804" y="3134217"/>
            <a:ext cx="447911" cy="373330"/>
          </a:xfrm>
          <a:prstGeom prst="ellipse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Mulish" pitchFamily="2" charset="0"/>
              </a:rPr>
              <a:t>3</a:t>
            </a:r>
            <a:endParaRPr lang="en-IN" sz="1400" b="1" dirty="0">
              <a:latin typeface="Mulish" pitchFamily="2" charset="0"/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5637212" y="4830407"/>
            <a:ext cx="3411048" cy="378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100859" y="4284627"/>
            <a:ext cx="447911" cy="373330"/>
          </a:xfrm>
          <a:prstGeom prst="ellipse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Mulish" pitchFamily="2" charset="0"/>
              </a:rPr>
              <a:t>4</a:t>
            </a:r>
            <a:endParaRPr lang="en-IN" sz="1400" b="1" dirty="0">
              <a:latin typeface="Mulish" pitchFamily="2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83841" y="4914961"/>
            <a:ext cx="2767007" cy="60016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Mulish" pitchFamily="2" charset="0"/>
              </a:rPr>
              <a:t>Once Funds are Credited in Merchant Current Account</a:t>
            </a:r>
          </a:p>
          <a:p>
            <a:pPr algn="ctr"/>
            <a:r>
              <a:rPr lang="en-US" sz="1100" b="1" dirty="0">
                <a:solidFill>
                  <a:srgbClr val="C00000"/>
                </a:solidFill>
                <a:latin typeface="Mulish" pitchFamily="2" charset="0"/>
              </a:rPr>
              <a:t>MIS API will be hit on Client’s ERP URL</a:t>
            </a:r>
            <a:endParaRPr lang="en-IN" sz="1100" b="1" dirty="0">
              <a:solidFill>
                <a:srgbClr val="C00000"/>
              </a:solidFill>
              <a:latin typeface="Mulish" pitchFamily="2" charset="0"/>
            </a:endParaRP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612" y="3962400"/>
            <a:ext cx="794823" cy="794823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75902" y="3828557"/>
            <a:ext cx="1676400" cy="1409700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2234347" y="4533407"/>
            <a:ext cx="447911" cy="373330"/>
          </a:xfrm>
          <a:prstGeom prst="ellipse">
            <a:avLst/>
          </a:prstGeom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Mulish" pitchFamily="2" charset="0"/>
              </a:rPr>
              <a:t>5</a:t>
            </a:r>
            <a:endParaRPr lang="en-IN" sz="1400" b="1" dirty="0">
              <a:latin typeface="Mulish" pitchFamily="2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360612" y="5183905"/>
            <a:ext cx="2767007" cy="4308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latin typeface="Mulish" pitchFamily="2" charset="0"/>
              </a:rPr>
              <a:t>Client will check MIS and update their database</a:t>
            </a:r>
            <a:endParaRPr lang="en-IN" sz="1100" b="1" dirty="0">
              <a:solidFill>
                <a:srgbClr val="C00000"/>
              </a:solidFill>
              <a:latin typeface="Mulish" pitchFamily="2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13159" y="6114610"/>
            <a:ext cx="1107566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solidFill>
                  <a:srgbClr val="C00000"/>
                </a:solidFill>
                <a:latin typeface="Mulish" pitchFamily="2" charset="0"/>
              </a:rPr>
              <a:t>Note</a:t>
            </a:r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: Virtual Account number assigned is Dummy account number i.e. Beneficiary account number for Payer to make Payments.</a:t>
            </a:r>
          </a:p>
          <a:p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- Client to share ERP URL in https where bank will hit MIS request. </a:t>
            </a:r>
          </a:p>
          <a:p>
            <a:r>
              <a:rPr lang="en-US" sz="1200" b="1" dirty="0">
                <a:solidFill>
                  <a:srgbClr val="C00000"/>
                </a:solidFill>
                <a:latin typeface="Mulish" pitchFamily="2" charset="0"/>
              </a:rPr>
              <a:t>- IFSC Code and Client code will be fixed value as shown above.</a:t>
            </a:r>
            <a:endParaRPr lang="en-IN" sz="1200" b="1" dirty="0">
              <a:solidFill>
                <a:srgbClr val="C00000"/>
              </a:solidFill>
              <a:latin typeface="Mulish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972B42-C2B7-D6F2-BE99-37471AE41D90}"/>
              </a:ext>
            </a:extLst>
          </p:cNvPr>
          <p:cNvSpPr txBox="1"/>
          <p:nvPr/>
        </p:nvSpPr>
        <p:spPr>
          <a:xfrm>
            <a:off x="10591302" y="2114871"/>
            <a:ext cx="142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Mulish" pitchFamily="2" charset="0"/>
              </a:rPr>
              <a:t>NEFT, RTGS, IMPS, UPI &amp; FT Supported</a:t>
            </a:r>
          </a:p>
        </p:txBody>
      </p:sp>
    </p:spTree>
    <p:extLst>
      <p:ext uri="{BB962C8B-B14F-4D97-AF65-F5344CB8AC3E}">
        <p14:creationId xmlns:p14="http://schemas.microsoft.com/office/powerpoint/2010/main" val="2543500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237070"/>
            <a:ext cx="11684000" cy="480121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841917"/>
                </a:solidFill>
                <a:latin typeface="Mulish" pitchFamily="2" charset="0"/>
              </a:rPr>
              <a:t>Features &amp; Benefits of e-Collection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  <a:latin typeface="Mulish" pitchFamily="2" charset="0"/>
              </a:rPr>
              <a:pPr/>
              <a:t>5</a:t>
            </a:fld>
            <a:endParaRPr lang="en-US" dirty="0">
              <a:solidFill>
                <a:srgbClr val="1F497D"/>
              </a:solidFill>
              <a:latin typeface="Mulish" pitchFamily="2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55611" y="1295400"/>
            <a:ext cx="10978506" cy="3119520"/>
            <a:chOff x="2112506" y="2434262"/>
            <a:chExt cx="8237946" cy="2729289"/>
          </a:xfrm>
        </p:grpSpPr>
        <p:sp>
          <p:nvSpPr>
            <p:cNvPr id="7" name="Oval 6"/>
            <p:cNvSpPr/>
            <p:nvPr/>
          </p:nvSpPr>
          <p:spPr>
            <a:xfrm>
              <a:off x="2112506" y="2434262"/>
              <a:ext cx="685800" cy="7839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00749" y="2436440"/>
              <a:ext cx="685800" cy="7839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127504" y="3385211"/>
              <a:ext cx="685800" cy="7839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6327997" y="3351288"/>
              <a:ext cx="685800" cy="7839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2181739" y="4379607"/>
              <a:ext cx="685800" cy="78394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6312989" y="4361315"/>
              <a:ext cx="685800" cy="7839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13345" y="2468448"/>
              <a:ext cx="3531060" cy="619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  <a:latin typeface="Mulish" pitchFamily="2" charset="0"/>
                </a:rPr>
                <a:t>Reconciliation made easy for Corporates </a:t>
              </a:r>
              <a:endParaRPr lang="en-IN" sz="2000" dirty="0">
                <a:solidFill>
                  <a:srgbClr val="002060"/>
                </a:solidFill>
                <a:latin typeface="Mulish" pitchFamily="2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104394" y="2454419"/>
              <a:ext cx="3246058" cy="619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  <a:latin typeface="Mulish" pitchFamily="2" charset="0"/>
                </a:rPr>
                <a:t>Multi payment modes for receiving payment</a:t>
              </a:r>
              <a:endParaRPr lang="en-IN" sz="2000" dirty="0">
                <a:solidFill>
                  <a:schemeClr val="accent1"/>
                </a:solidFill>
                <a:latin typeface="Mulish" pitchFamily="2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832329" y="3385211"/>
              <a:ext cx="3578782" cy="619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  <a:latin typeface="Mulish" pitchFamily="2" charset="0"/>
                </a:rPr>
                <a:t>Enhanced reports on Credit Information</a:t>
              </a:r>
              <a:endParaRPr lang="en-IN" sz="2000" dirty="0">
                <a:solidFill>
                  <a:schemeClr val="accent1"/>
                </a:solidFill>
                <a:latin typeface="Mulish" pitchFamily="2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73077" y="3363823"/>
              <a:ext cx="3209250" cy="619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  <a:latin typeface="Mulish" pitchFamily="2" charset="0"/>
                </a:rPr>
                <a:t>Choice of receiving Bank Validated transactions</a:t>
              </a:r>
              <a:endParaRPr lang="en-IN" sz="2000" dirty="0">
                <a:solidFill>
                  <a:srgbClr val="002060"/>
                </a:solidFill>
                <a:latin typeface="Mulish" pitchFamily="2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873537" y="4378032"/>
              <a:ext cx="3454461" cy="619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  <a:latin typeface="Mulish" pitchFamily="2" charset="0"/>
                </a:rPr>
                <a:t>MIS available in text, excel and xml formats </a:t>
              </a:r>
              <a:endParaRPr lang="en-IN" sz="2000" dirty="0">
                <a:solidFill>
                  <a:srgbClr val="002060"/>
                </a:solidFill>
                <a:latin typeface="Mulish" pitchFamily="2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013798" y="4319454"/>
              <a:ext cx="3299846" cy="619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  <a:latin typeface="Mulish" pitchFamily="2" charset="0"/>
                </a:rPr>
                <a:t>Customized MIS over email, Host to Host or API channels</a:t>
              </a:r>
              <a:endParaRPr lang="en-IN" sz="2000" dirty="0">
                <a:solidFill>
                  <a:schemeClr val="accent1"/>
                </a:solidFill>
                <a:latin typeface="Mulish" pitchFamily="2" charset="0"/>
              </a:endParaRPr>
            </a:p>
          </p:txBody>
        </p:sp>
        <p:pic>
          <p:nvPicPr>
            <p:cNvPr id="19" name="Graphic 64" descr="Magnifying glass with solid fill">
              <a:extLst>
                <a:ext uri="{FF2B5EF4-FFF2-40B4-BE49-F238E27FC236}">
                  <a16:creationId xmlns:a16="http://schemas.microsoft.com/office/drawing/2014/main" id="{263D0EDC-C14E-3B4D-80CD-22589425FF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49063" y="2586299"/>
              <a:ext cx="457328" cy="457328"/>
            </a:xfrm>
            <a:prstGeom prst="rect">
              <a:avLst/>
            </a:prstGeom>
          </p:spPr>
        </p:pic>
        <p:pic>
          <p:nvPicPr>
            <p:cNvPr id="20" name="Graphic 54" descr="Bar graph with upward trend with solid fill">
              <a:extLst>
                <a:ext uri="{FF2B5EF4-FFF2-40B4-BE49-F238E27FC236}">
                  <a16:creationId xmlns:a16="http://schemas.microsoft.com/office/drawing/2014/main" id="{A7447C83-EE23-D341-961A-D947C6BE2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47454" y="3558034"/>
              <a:ext cx="490542" cy="490542"/>
            </a:xfrm>
            <a:prstGeom prst="rect">
              <a:avLst/>
            </a:prstGeom>
          </p:spPr>
        </p:pic>
        <p:pic>
          <p:nvPicPr>
            <p:cNvPr id="21" name="Graphic 42" descr="CheckList with solid fill">
              <a:extLst>
                <a:ext uri="{FF2B5EF4-FFF2-40B4-BE49-F238E27FC236}">
                  <a16:creationId xmlns:a16="http://schemas.microsoft.com/office/drawing/2014/main" id="{6A7E7B54-8021-774A-9A16-C0B7C58DD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47454" y="4486686"/>
              <a:ext cx="569784" cy="569784"/>
            </a:xfrm>
            <a:prstGeom prst="rect">
              <a:avLst/>
            </a:prstGeom>
          </p:spPr>
        </p:pic>
        <p:pic>
          <p:nvPicPr>
            <p:cNvPr id="22" name="Graphic 128" descr="Philanthropy with solid fill">
              <a:extLst>
                <a:ext uri="{FF2B5EF4-FFF2-40B4-BE49-F238E27FC236}">
                  <a16:creationId xmlns:a16="http://schemas.microsoft.com/office/drawing/2014/main" id="{17D8A576-225E-4642-B7F4-A9C6D0376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17089" y="2570713"/>
              <a:ext cx="496776" cy="496776"/>
            </a:xfrm>
            <a:prstGeom prst="rect">
              <a:avLst/>
            </a:prstGeom>
          </p:spPr>
        </p:pic>
        <p:pic>
          <p:nvPicPr>
            <p:cNvPr id="23" name="Graphic 96" descr="Thumbs up sign with solid fill">
              <a:extLst>
                <a:ext uri="{FF2B5EF4-FFF2-40B4-BE49-F238E27FC236}">
                  <a16:creationId xmlns:a16="http://schemas.microsoft.com/office/drawing/2014/main" id="{0B347C60-FFD9-464C-BA65-0BD2B2220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11111" y="3448119"/>
              <a:ext cx="507833" cy="507833"/>
            </a:xfrm>
            <a:prstGeom prst="rect">
              <a:avLst/>
            </a:prstGeom>
          </p:spPr>
        </p:pic>
        <p:pic>
          <p:nvPicPr>
            <p:cNvPr id="24" name="Graphic 32" descr="Open folder with solid fill">
              <a:extLst>
                <a:ext uri="{FF2B5EF4-FFF2-40B4-BE49-F238E27FC236}">
                  <a16:creationId xmlns:a16="http://schemas.microsoft.com/office/drawing/2014/main" id="{E9128206-F16B-4C4A-B8E1-289AA3227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422167" y="4488213"/>
              <a:ext cx="530149" cy="530149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488883" y="4577956"/>
            <a:ext cx="5781870" cy="903153"/>
            <a:chOff x="608012" y="1371600"/>
            <a:chExt cx="3485297" cy="790175"/>
          </a:xfrm>
          <a:noFill/>
        </p:grpSpPr>
        <p:sp>
          <p:nvSpPr>
            <p:cNvPr id="26" name="TextBox 25"/>
            <p:cNvSpPr txBox="1"/>
            <p:nvPr/>
          </p:nvSpPr>
          <p:spPr>
            <a:xfrm>
              <a:off x="608012" y="1371600"/>
              <a:ext cx="838200" cy="67318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endParaRPr lang="en-IN" sz="4400" dirty="0">
                <a:solidFill>
                  <a:schemeClr val="accent6">
                    <a:lumMod val="50000"/>
                  </a:schemeClr>
                </a:solidFill>
                <a:latin typeface="Mulish" pitchFamily="2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28502" y="1542441"/>
              <a:ext cx="2864807" cy="6193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1"/>
                  </a:solidFill>
                  <a:latin typeface="Mulish" pitchFamily="2" charset="0"/>
                </a:rPr>
                <a:t>MIS available in pre defined frequency and consolidated EOD MIS</a:t>
              </a:r>
              <a:endParaRPr lang="en-IN" sz="2000" dirty="0">
                <a:solidFill>
                  <a:schemeClr val="accent1"/>
                </a:solidFill>
                <a:latin typeface="Mulish" pitchFamily="2" charset="0"/>
              </a:endParaRPr>
            </a:p>
          </p:txBody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5079" y="4695949"/>
            <a:ext cx="914479" cy="89619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927" y="4849551"/>
            <a:ext cx="621846" cy="53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323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237070"/>
            <a:ext cx="11684000" cy="480121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800" dirty="0">
                <a:solidFill>
                  <a:srgbClr val="841917"/>
                </a:solidFill>
                <a:latin typeface="Mulish" pitchFamily="2" charset="0"/>
              </a:rPr>
              <a:t>MSG Hold API- Features &amp; Benefits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6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9412" y="990603"/>
            <a:ext cx="111252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MSG Hold API enables clients to validate inward transactions in real-time before crediting their account and simplifies reconciliation at their end</a:t>
            </a:r>
          </a:p>
          <a:p>
            <a:endParaRPr lang="en-IN" sz="1800" dirty="0">
              <a:latin typeface="Mulish" pitchFamily="2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97467" y="2233447"/>
            <a:ext cx="4229489" cy="74855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Mulish" pitchFamily="2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78440" y="3184744"/>
            <a:ext cx="4229489" cy="74855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Mulish" pitchFamily="2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788353" y="3144964"/>
            <a:ext cx="4138603" cy="748552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Mulish" pitchFamily="2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563992" y="4126921"/>
            <a:ext cx="4143937" cy="748552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Mulish" pitchFamily="2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379950" y="2227259"/>
            <a:ext cx="4327979" cy="748552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Mulish" pitchFamily="2" charset="0"/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1098558" y="2209800"/>
            <a:ext cx="10173178" cy="2682029"/>
            <a:chOff x="2127504" y="2436439"/>
            <a:chExt cx="8080345" cy="2668745"/>
          </a:xfrm>
        </p:grpSpPr>
        <p:sp>
          <p:nvSpPr>
            <p:cNvPr id="15" name="Oval 14"/>
            <p:cNvSpPr/>
            <p:nvPr/>
          </p:nvSpPr>
          <p:spPr>
            <a:xfrm>
              <a:off x="2127504" y="2436439"/>
              <a:ext cx="670801" cy="781766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6300749" y="2436440"/>
              <a:ext cx="685800" cy="7839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2127504" y="3385211"/>
              <a:ext cx="685800" cy="7839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6327997" y="3351288"/>
              <a:ext cx="685800" cy="783944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latin typeface="Mulish" pitchFamily="2" charset="0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178465" y="4321240"/>
              <a:ext cx="685800" cy="783944"/>
            </a:xfrm>
            <a:prstGeom prst="ellipse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Mulish" pitchFamily="2" charset="0"/>
                </a:rPr>
                <a:t>z</a:t>
              </a:r>
              <a:endParaRPr lang="en-IN" dirty="0">
                <a:latin typeface="Mulish" pitchFamily="2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769689" y="2525561"/>
              <a:ext cx="3531060" cy="581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2060"/>
                  </a:solidFill>
                  <a:latin typeface="Mulish" pitchFamily="2" charset="0"/>
                </a:rPr>
                <a:t>Real-time decision making on inward transactions </a:t>
              </a:r>
              <a:endParaRPr lang="en-IN" sz="1600" dirty="0">
                <a:solidFill>
                  <a:srgbClr val="002060"/>
                </a:solidFill>
                <a:latin typeface="Mulish" pitchFamily="2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961791" y="2648062"/>
              <a:ext cx="3246058" cy="336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  <a:latin typeface="Mulish" pitchFamily="2" charset="0"/>
                </a:rPr>
                <a:t>Time-Efficient reconciliation</a:t>
              </a:r>
              <a:endParaRPr lang="en-IN" sz="1600" dirty="0">
                <a:solidFill>
                  <a:schemeClr val="accent1"/>
                </a:solidFill>
                <a:latin typeface="Mulish" pitchFamily="2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798305" y="3469986"/>
              <a:ext cx="3114744" cy="581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1"/>
                  </a:solidFill>
                  <a:latin typeface="Mulish" pitchFamily="2" charset="0"/>
                </a:rPr>
                <a:t>Only accepted transactions reflect in MIS and Account Statement</a:t>
              </a:r>
              <a:endParaRPr lang="en-IN" sz="1600" dirty="0">
                <a:solidFill>
                  <a:schemeClr val="accent1"/>
                </a:solidFill>
                <a:latin typeface="Mulish" pitchFamily="2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04953" y="3418568"/>
              <a:ext cx="2929044" cy="581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2060"/>
                  </a:solidFill>
                  <a:latin typeface="Mulish" pitchFamily="2" charset="0"/>
                </a:rPr>
                <a:t>View final status of transactions with Credit Confirmation API</a:t>
              </a:r>
              <a:endParaRPr lang="en-IN" sz="1600" dirty="0">
                <a:solidFill>
                  <a:srgbClr val="002060"/>
                </a:solidFill>
                <a:latin typeface="Mulish" pitchFamily="2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864265" y="4435895"/>
              <a:ext cx="3098878" cy="5818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2060"/>
                  </a:solidFill>
                  <a:latin typeface="Mulish" pitchFamily="2" charset="0"/>
                </a:rPr>
                <a:t>Set default deemed action (Accept/Reject)  </a:t>
              </a:r>
              <a:endParaRPr lang="en-IN" sz="1600" dirty="0">
                <a:solidFill>
                  <a:srgbClr val="002060"/>
                </a:solidFill>
                <a:latin typeface="Mulish" pitchFamily="2" charset="0"/>
              </a:endParaRPr>
            </a:p>
          </p:txBody>
        </p:sp>
        <p:pic>
          <p:nvPicPr>
            <p:cNvPr id="27" name="Graphic 42" descr="CheckList with solid fill">
              <a:extLst>
                <a:ext uri="{FF2B5EF4-FFF2-40B4-BE49-F238E27FC236}">
                  <a16:creationId xmlns:a16="http://schemas.microsoft.com/office/drawing/2014/main" id="{6A7E7B54-8021-774A-9A16-C0B7C58DD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23736" y="3494300"/>
              <a:ext cx="533251" cy="533251"/>
            </a:xfrm>
            <a:prstGeom prst="rect">
              <a:avLst/>
            </a:prstGeom>
          </p:spPr>
        </p:pic>
        <p:pic>
          <p:nvPicPr>
            <p:cNvPr id="28" name="Graphic 96" descr="Thumbs up sign with solid fill">
              <a:extLst>
                <a:ext uri="{FF2B5EF4-FFF2-40B4-BE49-F238E27FC236}">
                  <a16:creationId xmlns:a16="http://schemas.microsoft.com/office/drawing/2014/main" id="{0B347C60-FFD9-464C-BA65-0BD2B2220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324560" y="4496100"/>
              <a:ext cx="380754" cy="380755"/>
            </a:xfrm>
            <a:prstGeom prst="rect">
              <a:avLst/>
            </a:prstGeom>
          </p:spPr>
        </p:pic>
      </p:grpSp>
      <p:pic>
        <p:nvPicPr>
          <p:cNvPr id="31" name="Graphic 66" descr="Hourglass Full with solid fill">
            <a:extLst>
              <a:ext uri="{FF2B5EF4-FFF2-40B4-BE49-F238E27FC236}">
                <a16:creationId xmlns:a16="http://schemas.microsoft.com/office/drawing/2014/main" id="{185A0E6E-47A3-6F4F-AFDE-E79F218EFC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8644" y="2375421"/>
            <a:ext cx="585485" cy="467354"/>
          </a:xfrm>
          <a:prstGeom prst="rect">
            <a:avLst/>
          </a:prstGeom>
        </p:spPr>
      </p:pic>
      <p:pic>
        <p:nvPicPr>
          <p:cNvPr id="33" name="Graphic 56" descr="Bullseye with solid fill">
            <a:extLst>
              <a:ext uri="{FF2B5EF4-FFF2-40B4-BE49-F238E27FC236}">
                <a16:creationId xmlns:a16="http://schemas.microsoft.com/office/drawing/2014/main" id="{4C329014-F2B5-1048-901D-FE316F479CF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89268" y="2299366"/>
            <a:ext cx="613797" cy="613797"/>
          </a:xfrm>
          <a:prstGeom prst="rect">
            <a:avLst/>
          </a:prstGeom>
        </p:spPr>
      </p:pic>
      <p:pic>
        <p:nvPicPr>
          <p:cNvPr id="34" name="Graphic 25" descr="Clipboard Partially Ticked with solid fill">
            <a:extLst>
              <a:ext uri="{FF2B5EF4-FFF2-40B4-BE49-F238E27FC236}">
                <a16:creationId xmlns:a16="http://schemas.microsoft.com/office/drawing/2014/main" id="{22B7C6E2-3A65-DB45-A9E3-F290207D633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3632" y="3247621"/>
            <a:ext cx="515636" cy="51563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379950" y="5086753"/>
            <a:ext cx="4327979" cy="74855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Mulish" pitchFamily="2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092005" y="5067106"/>
            <a:ext cx="863424" cy="7878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3"/>
              </a:solidFill>
              <a:latin typeface="Mulish" pitchFamily="2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97555" y="5291752"/>
            <a:ext cx="381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Faster Return to Payers  </a:t>
            </a:r>
            <a:endParaRPr lang="en-IN" sz="1600" dirty="0">
              <a:solidFill>
                <a:srgbClr val="002060"/>
              </a:solidFill>
              <a:latin typeface="Mulish" pitchFamily="2" charset="0"/>
            </a:endParaRPr>
          </a:p>
        </p:txBody>
      </p:sp>
      <p:pic>
        <p:nvPicPr>
          <p:cNvPr id="39" name="Graphic 47" descr="Aeroplane with solid fill">
            <a:extLst>
              <a:ext uri="{FF2B5EF4-FFF2-40B4-BE49-F238E27FC236}">
                <a16:creationId xmlns:a16="http://schemas.microsoft.com/office/drawing/2014/main" id="{21DD5608-1417-B846-A545-90BF1C60BF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58645" y="5174724"/>
            <a:ext cx="543250" cy="54325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633819" y="4114800"/>
            <a:ext cx="4327979" cy="74855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1"/>
              </a:solidFill>
              <a:latin typeface="Mulish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223775" y="4213816"/>
            <a:ext cx="38571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Mulish" pitchFamily="2" charset="0"/>
              </a:rPr>
              <a:t>Smooth, hassle free &amp; quick transaction experience</a:t>
            </a:r>
            <a:endParaRPr lang="en-IN" sz="1600" dirty="0">
              <a:solidFill>
                <a:schemeClr val="accent1"/>
              </a:solidFill>
              <a:latin typeface="Mulish" pitchFamily="2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342509" y="4095153"/>
            <a:ext cx="863424" cy="7878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accent3"/>
              </a:solidFill>
              <a:latin typeface="Mulish" pitchFamily="2" charset="0"/>
            </a:endParaRPr>
          </a:p>
        </p:txBody>
      </p:sp>
      <p:pic>
        <p:nvPicPr>
          <p:cNvPr id="47" name="Graphic 73" descr="Chevron arrows with solid fill">
            <a:extLst>
              <a:ext uri="{FF2B5EF4-FFF2-40B4-BE49-F238E27FC236}">
                <a16:creationId xmlns:a16="http://schemas.microsoft.com/office/drawing/2014/main" id="{A54C7328-47A6-2E48-A9E3-F39E74D90A43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82336" y="4189063"/>
            <a:ext cx="583770" cy="58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7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152400"/>
            <a:ext cx="11684000" cy="535393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199" dirty="0">
                <a:solidFill>
                  <a:srgbClr val="841917"/>
                </a:solidFill>
                <a:latin typeface="Mulish" pitchFamily="2" charset="0"/>
              </a:rPr>
              <a:t>Sample Request &amp; Response Packets</a:t>
            </a:r>
            <a:endParaRPr lang="en-IN" sz="3199" dirty="0">
              <a:solidFill>
                <a:srgbClr val="841917"/>
              </a:solidFill>
              <a:latin typeface="Mulish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7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47547" y="1614793"/>
            <a:ext cx="5181600" cy="433372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350" b="1" u="sng" dirty="0">
              <a:latin typeface="Mulish" pitchFamily="2" charset="0"/>
            </a:endParaRPr>
          </a:p>
          <a:p>
            <a:r>
              <a:rPr lang="en-US" sz="1350" b="1" u="sng" dirty="0">
                <a:solidFill>
                  <a:srgbClr val="002060"/>
                </a:solidFill>
                <a:latin typeface="Mulish" pitchFamily="2" charset="0"/>
              </a:rPr>
              <a:t>Standard Request and Response:</a:t>
            </a:r>
            <a:endParaRPr lang="en-US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“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ClientCode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: “REL",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VirtualAccountNumber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": 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“REL9834191192",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Mode"</a:t>
            </a:r>
            <a:r>
              <a:rPr lang="en-US" sz="1350" dirty="0" err="1">
                <a:solidFill>
                  <a:srgbClr val="002060"/>
                </a:solidFill>
                <a:latin typeface="Mulish" pitchFamily="2" charset="0"/>
              </a:rPr>
              <a:t>:"RTGS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UTR": 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"CITIR52011986928310711",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SenderRemark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":"Testing",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ClientAccountNo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“XXX9834191192",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Amount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"7877777.00",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PayerName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“Jeet Raul",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PayerAccNumber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"XXX8429324",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PayerBankIFSC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"CITI0100000",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PayerPaymentDate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"20200731 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BankInternalTransactionNumber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"REQ20213000001"</a:t>
            </a:r>
          </a:p>
          <a:p>
            <a:endParaRPr lang="en-US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b="1" u="sng" dirty="0">
                <a:solidFill>
                  <a:srgbClr val="002060"/>
                </a:solidFill>
                <a:latin typeface="Mulish" pitchFamily="2" charset="0"/>
              </a:rPr>
              <a:t>Response:</a:t>
            </a: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AcceptOrReject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“N",</a:t>
            </a: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   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Message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“Reject",</a:t>
            </a: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   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Code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"12"</a:t>
            </a:r>
          </a:p>
          <a:p>
            <a:r>
              <a:rPr lang="en-US" sz="1350" dirty="0">
                <a:latin typeface="Mulish" pitchFamily="2" charset="0"/>
              </a:rPr>
              <a:t> </a:t>
            </a:r>
            <a:endParaRPr lang="en-IN" sz="1350" dirty="0">
              <a:latin typeface="Mulish" pitchFamily="2" charset="0"/>
            </a:endParaRPr>
          </a:p>
          <a:p>
            <a:pPr algn="ctr"/>
            <a:endParaRPr lang="en-IN" sz="1350" dirty="0">
              <a:latin typeface="Mulish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627812" y="838200"/>
            <a:ext cx="5437330" cy="61927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600" b="1" dirty="0">
                <a:solidFill>
                  <a:srgbClr val="002060"/>
                </a:solidFill>
                <a:latin typeface="Mulish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2.   </a:t>
            </a:r>
            <a:r>
              <a:rPr lang="en-US" sz="1600" b="1" dirty="0" err="1">
                <a:solidFill>
                  <a:srgbClr val="C00000"/>
                </a:solidFill>
                <a:latin typeface="Mulish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eCollection</a:t>
            </a:r>
            <a:r>
              <a:rPr lang="en-US" sz="1600" b="1" dirty="0">
                <a:solidFill>
                  <a:srgbClr val="C00000"/>
                </a:solidFill>
                <a:latin typeface="Mulish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MIS posting API: </a:t>
            </a:r>
            <a:br>
              <a:rPr lang="en-US" sz="1600" b="1" dirty="0">
                <a:solidFill>
                  <a:srgbClr val="C00000"/>
                </a:solidFill>
                <a:latin typeface="Mulish" pitchFamily="2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2060"/>
                </a:solidFill>
                <a:latin typeface="Mulish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 send the confirmation to client for credit</a:t>
            </a:r>
            <a:endParaRPr lang="en-IN" sz="1600" b="1" dirty="0">
              <a:solidFill>
                <a:srgbClr val="002060"/>
              </a:solidFill>
              <a:latin typeface="Mulish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714" y="1689171"/>
            <a:ext cx="5181600" cy="433372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1350" b="1" u="sng" dirty="0">
              <a:latin typeface="Mulish" pitchFamily="2" charset="0"/>
            </a:endParaRPr>
          </a:p>
          <a:p>
            <a:br>
              <a:rPr lang="en-US" sz="1350" b="1" u="sng" dirty="0">
                <a:solidFill>
                  <a:srgbClr val="002060"/>
                </a:solidFill>
                <a:latin typeface="Mulish" pitchFamily="2" charset="0"/>
              </a:rPr>
            </a:br>
            <a:endParaRPr lang="en-US" sz="1350" b="1" u="sng" dirty="0">
              <a:solidFill>
                <a:srgbClr val="002060"/>
              </a:solidFill>
              <a:latin typeface="Mulish" pitchFamily="2" charset="0"/>
            </a:endParaRPr>
          </a:p>
          <a:p>
            <a:endParaRPr lang="en-US" sz="1350" b="1" u="sng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b="1" u="sng" dirty="0">
                <a:solidFill>
                  <a:srgbClr val="002060"/>
                </a:solidFill>
                <a:latin typeface="Mulish" pitchFamily="2" charset="0"/>
              </a:rPr>
              <a:t>Standard Request and Response:</a:t>
            </a:r>
            <a:endParaRPr lang="en-US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“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ClientCode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: “REL",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VirtualAccountNumber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": 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“REL9834191192",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Mode"</a:t>
            </a:r>
            <a:r>
              <a:rPr lang="en-US" sz="1350" dirty="0" err="1">
                <a:solidFill>
                  <a:srgbClr val="002060"/>
                </a:solidFill>
                <a:latin typeface="Mulish" pitchFamily="2" charset="0"/>
              </a:rPr>
              <a:t>:"RTGS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UTR": 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"CITIR52011986928310711",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SenderRemark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":"Testing",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ClientAccountNo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“XXX9834191192",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Amount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"7877777.00",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PayerName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“Jeet Raul",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PayerAccNumber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"XXX8429324",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PayerBankIFSC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"CITI0100000",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PayerPaymentDate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"20200731 ", </a:t>
            </a:r>
            <a:endParaRPr lang="en-IN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 err="1">
                <a:solidFill>
                  <a:srgbClr val="002060"/>
                </a:solidFill>
                <a:latin typeface="Mulish" pitchFamily="2" charset="0"/>
              </a:rPr>
              <a:t>BankInternalTransactionNumber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"REQ20213000001"</a:t>
            </a:r>
          </a:p>
          <a:p>
            <a:endParaRPr lang="en-US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b="1" u="sng" dirty="0">
                <a:solidFill>
                  <a:srgbClr val="002060"/>
                </a:solidFill>
                <a:latin typeface="Mulish" pitchFamily="2" charset="0"/>
              </a:rPr>
              <a:t> Response:</a:t>
            </a: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Response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Success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","Code":"11"}</a:t>
            </a:r>
            <a:br>
              <a:rPr lang="en-US" sz="1350" dirty="0">
                <a:solidFill>
                  <a:srgbClr val="002060"/>
                </a:solidFill>
                <a:latin typeface="Mulish" pitchFamily="2" charset="0"/>
              </a:rPr>
            </a:br>
            <a:endParaRPr lang="en-US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{"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Response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": "</a:t>
            </a:r>
            <a:r>
              <a:rPr lang="en-US" sz="1350" b="1" dirty="0">
                <a:solidFill>
                  <a:srgbClr val="002060"/>
                </a:solidFill>
                <a:latin typeface="Mulish" pitchFamily="2" charset="0"/>
              </a:rPr>
              <a:t>Duplicate UTR</a:t>
            </a:r>
            <a:r>
              <a:rPr lang="en-US" sz="1350" dirty="0">
                <a:solidFill>
                  <a:srgbClr val="002060"/>
                </a:solidFill>
                <a:latin typeface="Mulish" pitchFamily="2" charset="0"/>
              </a:rPr>
              <a:t>", "Code": "06"</a:t>
            </a:r>
          </a:p>
          <a:p>
            <a:r>
              <a:rPr lang="en-US" sz="1350" dirty="0">
                <a:latin typeface="Mulish" pitchFamily="2" charset="0"/>
              </a:rPr>
              <a:t> </a:t>
            </a:r>
            <a:endParaRPr lang="en-IN" sz="1350" dirty="0">
              <a:latin typeface="Mulish" pitchFamily="2" charset="0"/>
            </a:endParaRPr>
          </a:p>
          <a:p>
            <a:endParaRPr lang="en-US" sz="1350" dirty="0">
              <a:solidFill>
                <a:srgbClr val="002060"/>
              </a:solidFill>
              <a:latin typeface="Mulish" pitchFamily="2" charset="0"/>
            </a:endParaRPr>
          </a:p>
          <a:p>
            <a:r>
              <a:rPr lang="en-US" sz="1350" dirty="0">
                <a:latin typeface="Mulish" pitchFamily="2" charset="0"/>
              </a:rPr>
              <a:t> </a:t>
            </a:r>
            <a:endParaRPr lang="en-IN" sz="1350" dirty="0">
              <a:latin typeface="Mulish" pitchFamily="2" charset="0"/>
            </a:endParaRPr>
          </a:p>
          <a:p>
            <a:pPr algn="ctr"/>
            <a:endParaRPr lang="en-IN" sz="1350" dirty="0">
              <a:latin typeface="Mulish" pitchFamily="2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967428"/>
              </p:ext>
            </p:extLst>
          </p:nvPr>
        </p:nvGraphicFramePr>
        <p:xfrm>
          <a:off x="1217612" y="5996622"/>
          <a:ext cx="4191000" cy="7595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6881">
                  <a:extLst>
                    <a:ext uri="{9D8B030D-6E8A-4147-A177-3AD203B41FA5}">
                      <a16:colId xmlns:a16="http://schemas.microsoft.com/office/drawing/2014/main" val="4060417645"/>
                    </a:ext>
                  </a:extLst>
                </a:gridCol>
                <a:gridCol w="1562434">
                  <a:extLst>
                    <a:ext uri="{9D8B030D-6E8A-4147-A177-3AD203B41FA5}">
                      <a16:colId xmlns:a16="http://schemas.microsoft.com/office/drawing/2014/main" val="4166093093"/>
                    </a:ext>
                  </a:extLst>
                </a:gridCol>
                <a:gridCol w="1911685">
                  <a:extLst>
                    <a:ext uri="{9D8B030D-6E8A-4147-A177-3AD203B41FA5}">
                      <a16:colId xmlns:a16="http://schemas.microsoft.com/office/drawing/2014/main" val="1351666310"/>
                    </a:ext>
                  </a:extLst>
                </a:gridCol>
              </a:tblGrid>
              <a:tr h="26942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150" dirty="0">
                          <a:effectLst/>
                          <a:latin typeface="Mulish" pitchFamily="2" charset="0"/>
                        </a:rPr>
                        <a:t>Code</a:t>
                      </a:r>
                      <a:endParaRPr lang="en-IN" sz="1200" kern="150" dirty="0">
                        <a:effectLst/>
                        <a:latin typeface="Mulish" pitchFamily="2" charset="0"/>
                        <a:ea typeface="NSimSun" panose="02010609030101010101" pitchFamily="49" charset="-122"/>
                        <a:cs typeface="Mangal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150" dirty="0">
                          <a:effectLst/>
                          <a:latin typeface="Mulish" pitchFamily="2" charset="0"/>
                        </a:rPr>
                        <a:t>Accept Or Reject</a:t>
                      </a:r>
                      <a:endParaRPr lang="en-IN" sz="1200" kern="150" dirty="0">
                        <a:effectLst/>
                        <a:latin typeface="Mulish" pitchFamily="2" charset="0"/>
                        <a:ea typeface="NSimSun" panose="02010609030101010101" pitchFamily="49" charset="-122"/>
                        <a:cs typeface="Mangal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150">
                          <a:effectLst/>
                          <a:latin typeface="Mulish" pitchFamily="2" charset="0"/>
                        </a:rPr>
                        <a:t>Message</a:t>
                      </a:r>
                      <a:endParaRPr lang="en-IN" sz="1200" kern="150">
                        <a:effectLst/>
                        <a:latin typeface="Mulish" pitchFamily="2" charset="0"/>
                        <a:ea typeface="NSimSun" panose="02010609030101010101" pitchFamily="49" charset="-122"/>
                        <a:cs typeface="Mangal"/>
                      </a:endParaRPr>
                    </a:p>
                  </a:txBody>
                  <a:tcPr marL="34925" marR="34925" marT="34925" marB="34925" anchor="ctr"/>
                </a:tc>
                <a:extLst>
                  <a:ext uri="{0D108BD9-81ED-4DB2-BD59-A6C34878D82A}">
                    <a16:rowId xmlns:a16="http://schemas.microsoft.com/office/drawing/2014/main" val="2073048915"/>
                  </a:ext>
                </a:extLst>
              </a:tr>
              <a:tr h="2381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Mulish" pitchFamily="2" charset="0"/>
                        </a:rPr>
                        <a:t>11</a:t>
                      </a:r>
                      <a:endParaRPr lang="en-IN" sz="1100" dirty="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Mulish" pitchFamily="2" charset="0"/>
                        </a:rPr>
                        <a:t>Y</a:t>
                      </a:r>
                      <a:endParaRPr lang="en-IN" sz="1100" dirty="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Mulish" pitchFamily="2" charset="0"/>
                        </a:rPr>
                        <a:t>Accept</a:t>
                      </a:r>
                      <a:endParaRPr lang="en-IN" sz="1100" dirty="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3042888807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Mulish" pitchFamily="2" charset="0"/>
                        </a:rPr>
                        <a:t>12</a:t>
                      </a:r>
                      <a:endParaRPr lang="en-IN" sz="110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Mulish" pitchFamily="2" charset="0"/>
                        </a:rPr>
                        <a:t>N</a:t>
                      </a:r>
                      <a:endParaRPr lang="en-IN" sz="1100" dirty="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Mulish" pitchFamily="2" charset="0"/>
                        </a:rPr>
                        <a:t>Reject</a:t>
                      </a:r>
                      <a:endParaRPr lang="en-IN" sz="1100" dirty="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1886552477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221766"/>
              </p:ext>
            </p:extLst>
          </p:nvPr>
        </p:nvGraphicFramePr>
        <p:xfrm>
          <a:off x="6641153" y="5991096"/>
          <a:ext cx="4558665" cy="75920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8659">
                  <a:extLst>
                    <a:ext uri="{9D8B030D-6E8A-4147-A177-3AD203B41FA5}">
                      <a16:colId xmlns:a16="http://schemas.microsoft.com/office/drawing/2014/main" val="2599008699"/>
                    </a:ext>
                  </a:extLst>
                </a:gridCol>
                <a:gridCol w="3810006">
                  <a:extLst>
                    <a:ext uri="{9D8B030D-6E8A-4147-A177-3AD203B41FA5}">
                      <a16:colId xmlns:a16="http://schemas.microsoft.com/office/drawing/2014/main" val="181038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150">
                          <a:effectLst/>
                          <a:latin typeface="Mulish" pitchFamily="2" charset="0"/>
                        </a:rPr>
                        <a:t>Code</a:t>
                      </a:r>
                      <a:endParaRPr lang="en-IN" sz="1200" kern="150">
                        <a:effectLst/>
                        <a:latin typeface="Mulish" pitchFamily="2" charset="0"/>
                        <a:ea typeface="NSimSun" panose="02010609030101010101" pitchFamily="49" charset="-122"/>
                        <a:cs typeface="Mangal"/>
                      </a:endParaRPr>
                    </a:p>
                  </a:txBody>
                  <a:tcPr marL="34925" marR="34925" marT="34925" marB="349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kern="150" dirty="0">
                          <a:effectLst/>
                          <a:latin typeface="Mulish" pitchFamily="2" charset="0"/>
                        </a:rPr>
                        <a:t>Response</a:t>
                      </a:r>
                      <a:endParaRPr lang="en-IN" sz="1200" kern="150" dirty="0">
                        <a:effectLst/>
                        <a:latin typeface="Mulish" pitchFamily="2" charset="0"/>
                        <a:ea typeface="NSimSun" panose="02010609030101010101" pitchFamily="49" charset="-122"/>
                        <a:cs typeface="Mangal"/>
                      </a:endParaRPr>
                    </a:p>
                  </a:txBody>
                  <a:tcPr marL="34925" marR="34925" marT="34925" marB="34925" anchor="ctr"/>
                </a:tc>
                <a:extLst>
                  <a:ext uri="{0D108BD9-81ED-4DB2-BD59-A6C34878D82A}">
                    <a16:rowId xmlns:a16="http://schemas.microsoft.com/office/drawing/2014/main" val="412451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Mulish" pitchFamily="2" charset="0"/>
                        </a:rPr>
                        <a:t>11</a:t>
                      </a:r>
                      <a:endParaRPr lang="en-IN" sz="1100" dirty="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Mulish" pitchFamily="2" charset="0"/>
                        </a:rPr>
                        <a:t>Success</a:t>
                      </a:r>
                      <a:endParaRPr lang="en-IN" sz="1100" dirty="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1896915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Mulish" pitchFamily="2" charset="0"/>
                        </a:rPr>
                        <a:t>06</a:t>
                      </a:r>
                      <a:endParaRPr lang="en-IN" sz="110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Mulish" pitchFamily="2" charset="0"/>
                        </a:rPr>
                        <a:t>Duplicate UTR</a:t>
                      </a:r>
                      <a:endParaRPr lang="en-IN" sz="1100" dirty="0">
                        <a:effectLst/>
                        <a:latin typeface="Mulish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25" marR="34925" marT="34925" marB="34925"/>
                </a:tc>
                <a:extLst>
                  <a:ext uri="{0D108BD9-81ED-4DB2-BD59-A6C34878D82A}">
                    <a16:rowId xmlns:a16="http://schemas.microsoft.com/office/drawing/2014/main" val="4064479427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6018212" y="838200"/>
            <a:ext cx="0" cy="594360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96701" y="870155"/>
            <a:ext cx="4849944" cy="619272"/>
          </a:xfrm>
          <a:prstGeom prst="rect">
            <a:avLst/>
          </a:prstGeom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1600" b="1" dirty="0" err="1">
                <a:solidFill>
                  <a:srgbClr val="C00000"/>
                </a:solidFill>
                <a:latin typeface="Mulish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eCollection</a:t>
            </a:r>
            <a:r>
              <a:rPr lang="en-US" sz="1600" b="1" dirty="0">
                <a:solidFill>
                  <a:srgbClr val="C00000"/>
                </a:solidFill>
                <a:latin typeface="Mulish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Validation API: </a:t>
            </a:r>
            <a:br>
              <a:rPr lang="en-US" sz="1600" b="1" dirty="0">
                <a:solidFill>
                  <a:srgbClr val="002060"/>
                </a:solidFill>
                <a:latin typeface="Mulish" pitchFamily="2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600" b="1" dirty="0">
                <a:solidFill>
                  <a:srgbClr val="002060"/>
                </a:solidFill>
                <a:latin typeface="Mulish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To validate the transaction before crediting</a:t>
            </a:r>
            <a:endParaRPr lang="en-IN" sz="1600" dirty="0">
              <a:effectLst/>
              <a:latin typeface="Mulish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602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8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9705" y="1008818"/>
            <a:ext cx="11811000" cy="5221238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650" b="1" dirty="0">
                <a:solidFill>
                  <a:schemeClr val="accent1"/>
                </a:solidFill>
                <a:latin typeface="Mulish" pitchFamily="2" charset="0"/>
              </a:rPr>
              <a:t>For MSG Hold API</a:t>
            </a:r>
            <a:r>
              <a:rPr lang="en-US" sz="1650" dirty="0">
                <a:solidFill>
                  <a:srgbClr val="002060"/>
                </a:solidFill>
                <a:latin typeface="Mulish" pitchFamily="2" charset="0"/>
              </a:rPr>
              <a:t>, if client’s ERP is unavailable due to some reason, then bank will not do any retry. </a:t>
            </a:r>
          </a:p>
          <a:p>
            <a:pPr>
              <a:lnSpc>
                <a:spcPct val="200000"/>
              </a:lnSpc>
            </a:pPr>
            <a:r>
              <a:rPr lang="en-US" sz="1650" dirty="0">
                <a:solidFill>
                  <a:srgbClr val="002060"/>
                </a:solidFill>
                <a:latin typeface="Mulish" pitchFamily="2" charset="0"/>
              </a:rPr>
              <a:t>Bank will wait on client’s MSG HOLD URL for below mentioned timelines. If bank does not get any response in these timelines then it will </a:t>
            </a:r>
            <a:r>
              <a:rPr lang="en-US" sz="1650" b="1" dirty="0">
                <a:solidFill>
                  <a:schemeClr val="accent1"/>
                </a:solidFill>
                <a:latin typeface="Mulish" pitchFamily="2" charset="0"/>
              </a:rPr>
              <a:t>consider Deemed Accept/Deemed Reject </a:t>
            </a:r>
            <a:r>
              <a:rPr lang="en-US" sz="1650" dirty="0">
                <a:solidFill>
                  <a:srgbClr val="002060"/>
                </a:solidFill>
                <a:latin typeface="Mulish" pitchFamily="2" charset="0"/>
              </a:rPr>
              <a:t>scenario according to the configuration happened at bank end -</a:t>
            </a:r>
          </a:p>
          <a:p>
            <a:pPr>
              <a:lnSpc>
                <a:spcPct val="200000"/>
              </a:lnSpc>
            </a:pPr>
            <a:r>
              <a:rPr lang="en-US" sz="1650" b="1" dirty="0">
                <a:solidFill>
                  <a:schemeClr val="accent1"/>
                </a:solidFill>
                <a:latin typeface="Mulish" pitchFamily="2" charset="0"/>
              </a:rPr>
              <a:t>For UPI: 5 secs, For IMPS: 5 secs, For RTGS: 10 secs, For NEFT: 10 secs, For FT: 15 secs </a:t>
            </a:r>
          </a:p>
          <a:p>
            <a:pPr>
              <a:lnSpc>
                <a:spcPct val="200000"/>
              </a:lnSpc>
            </a:pPr>
            <a:r>
              <a:rPr lang="en-US" sz="1650" b="1" dirty="0">
                <a:solidFill>
                  <a:schemeClr val="accent1"/>
                </a:solidFill>
                <a:latin typeface="Mulish" pitchFamily="2" charset="0"/>
              </a:rPr>
              <a:t>Deemed Accept or Deemed Reject scenario.</a:t>
            </a:r>
          </a:p>
          <a:p>
            <a:pPr>
              <a:lnSpc>
                <a:spcPct val="200000"/>
              </a:lnSpc>
            </a:pPr>
            <a:r>
              <a:rPr lang="en-US" sz="1650" dirty="0">
                <a:solidFill>
                  <a:srgbClr val="002060"/>
                </a:solidFill>
                <a:latin typeface="Mulish" pitchFamily="2" charset="0"/>
              </a:rPr>
              <a:t> Any one deemed scenario needs to be selected by client at the time of onboarding. –</a:t>
            </a:r>
          </a:p>
          <a:p>
            <a:pPr>
              <a:lnSpc>
                <a:spcPct val="200000"/>
              </a:lnSpc>
            </a:pPr>
            <a:r>
              <a:rPr lang="en-US" sz="1650" dirty="0">
                <a:solidFill>
                  <a:srgbClr val="002060"/>
                </a:solidFill>
                <a:latin typeface="Mulish" pitchFamily="2" charset="0"/>
              </a:rPr>
              <a:t> </a:t>
            </a:r>
            <a:r>
              <a:rPr lang="en-US" sz="1650" b="1" dirty="0">
                <a:solidFill>
                  <a:schemeClr val="tx2"/>
                </a:solidFill>
                <a:latin typeface="Mulish" pitchFamily="2" charset="0"/>
              </a:rPr>
              <a:t>Deemed Accept</a:t>
            </a:r>
            <a:r>
              <a:rPr lang="en-US" sz="1650" dirty="0">
                <a:solidFill>
                  <a:srgbClr val="002060"/>
                </a:solidFill>
                <a:latin typeface="Mulish" pitchFamily="2" charset="0"/>
              </a:rPr>
              <a:t>: By default bank will credit funds to client’s account if there is no response from client for MSG Hold API. </a:t>
            </a:r>
          </a:p>
          <a:p>
            <a:pPr>
              <a:lnSpc>
                <a:spcPct val="200000"/>
              </a:lnSpc>
            </a:pPr>
            <a:r>
              <a:rPr lang="en-US" sz="1650" b="1" dirty="0">
                <a:solidFill>
                  <a:srgbClr val="002060"/>
                </a:solidFill>
                <a:latin typeface="Mulish" pitchFamily="2" charset="0"/>
              </a:rPr>
              <a:t> </a:t>
            </a:r>
            <a:r>
              <a:rPr lang="en-US" sz="1650" b="1" dirty="0">
                <a:solidFill>
                  <a:schemeClr val="tx2"/>
                </a:solidFill>
                <a:latin typeface="Mulish" pitchFamily="2" charset="0"/>
              </a:rPr>
              <a:t>Deemed Reject</a:t>
            </a:r>
            <a:r>
              <a:rPr lang="en-US" sz="1650" b="1" dirty="0">
                <a:solidFill>
                  <a:srgbClr val="002060"/>
                </a:solidFill>
                <a:latin typeface="Mulish" pitchFamily="2" charset="0"/>
              </a:rPr>
              <a:t>: </a:t>
            </a:r>
            <a:r>
              <a:rPr lang="en-US" sz="1650" dirty="0">
                <a:solidFill>
                  <a:srgbClr val="002060"/>
                </a:solidFill>
                <a:latin typeface="Mulish" pitchFamily="2" charset="0"/>
              </a:rPr>
              <a:t>Bank will refund back to payer if there is no response from client for MSG Hold API. </a:t>
            </a:r>
          </a:p>
          <a:p>
            <a:pPr>
              <a:lnSpc>
                <a:spcPct val="200000"/>
              </a:lnSpc>
            </a:pPr>
            <a:endParaRPr lang="en-US" sz="1650" dirty="0">
              <a:solidFill>
                <a:srgbClr val="002060"/>
              </a:solidFill>
              <a:latin typeface="Mulish" pitchFamily="2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203205" y="152400"/>
            <a:ext cx="11684000" cy="5353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>
            <a:lvl1pPr marL="0" indent="0" algn="l" defTabSz="914285" rtl="0" eaLnBrk="1" latinLnBrk="0" hangingPunct="1">
              <a:spcBef>
                <a:spcPct val="20000"/>
              </a:spcBef>
              <a:buFont typeface="Arial" pitchFamily="34" charset="0"/>
              <a:buNone/>
              <a:defRPr sz="3199" b="1" kern="1200">
                <a:solidFill>
                  <a:schemeClr val="accent2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  <a:lvl2pPr marL="742858" indent="-285714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56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0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43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87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28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72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15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MSG Hold API- Response time from client’s end</a:t>
            </a:r>
            <a:endParaRPr lang="en-IN" dirty="0">
              <a:solidFill>
                <a:srgbClr val="841917"/>
              </a:solidFill>
              <a:latin typeface="Mulish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613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9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3205" y="1371600"/>
            <a:ext cx="11811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Bank will </a:t>
            </a:r>
            <a:r>
              <a:rPr lang="en-US" sz="18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re-try for 3 times </a:t>
            </a: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after every </a:t>
            </a:r>
            <a:r>
              <a:rPr lang="en-US" sz="18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6 </a:t>
            </a:r>
            <a:r>
              <a:rPr lang="en-US" sz="1800" b="1" u="sng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mins</a:t>
            </a:r>
            <a:r>
              <a:rPr lang="en-US" sz="18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 </a:t>
            </a: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for all payment modes if there is no response from client. </a:t>
            </a:r>
            <a:br>
              <a:rPr lang="en-US" sz="1800" dirty="0">
                <a:solidFill>
                  <a:srgbClr val="002060"/>
                </a:solidFill>
                <a:latin typeface="Mulish" pitchFamily="2" charset="0"/>
              </a:rPr>
            </a:br>
            <a:endParaRPr lang="en-US" sz="1800" dirty="0">
              <a:solidFill>
                <a:srgbClr val="002060"/>
              </a:solidFill>
              <a:latin typeface="Mulish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Bank will wait for 6 minutes to get reply from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2060"/>
              </a:solidFill>
              <a:latin typeface="Mulish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In response, client needs to send “</a:t>
            </a:r>
            <a:r>
              <a:rPr lang="en-US" sz="1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Success</a:t>
            </a: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” this means they have </a:t>
            </a:r>
            <a:r>
              <a:rPr lang="en-US" sz="18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received &amp; updated MIS at their 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2060"/>
              </a:solidFill>
              <a:latin typeface="Mulish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If client received same </a:t>
            </a:r>
            <a:r>
              <a:rPr lang="en-US" sz="18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Mulish" pitchFamily="2" charset="0"/>
              </a:rPr>
              <a:t>MIS twice</a:t>
            </a:r>
            <a:r>
              <a:rPr lang="en-US" sz="18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, then send “</a:t>
            </a:r>
            <a:r>
              <a:rPr lang="en-US" sz="1800" b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Mulish" pitchFamily="2" charset="0"/>
              </a:rPr>
              <a:t>Duplicate UTR</a:t>
            </a:r>
            <a:r>
              <a:rPr lang="en-US" sz="1800" b="1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Mulish" pitchFamily="2" charset="0"/>
              </a:rPr>
              <a:t>” as response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2060"/>
              </a:solidFill>
              <a:latin typeface="Mulish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2060"/>
              </a:solidFill>
              <a:latin typeface="Mulish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u="sng" dirty="0">
                <a:solidFill>
                  <a:srgbClr val="002060"/>
                </a:solidFill>
                <a:latin typeface="Mulish" pitchFamily="2" charset="0"/>
              </a:rPr>
              <a:t>Note: </a:t>
            </a:r>
            <a:br>
              <a:rPr lang="en-US" sz="1800" b="1" u="sng" dirty="0">
                <a:solidFill>
                  <a:srgbClr val="002060"/>
                </a:solidFill>
                <a:latin typeface="Mulish" pitchFamily="2" charset="0"/>
              </a:rPr>
            </a:b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If Client do not get any Request from Bank, then ask them </a:t>
            </a:r>
            <a:r>
              <a:rPr lang="en-US" sz="1800" b="1" u="sng" dirty="0">
                <a:solidFill>
                  <a:srgbClr val="002060"/>
                </a:solidFill>
                <a:latin typeface="Mulish" pitchFamily="2" charset="0"/>
              </a:rPr>
              <a:t>send email to SM along with transaction details</a:t>
            </a: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. </a:t>
            </a:r>
            <a:br>
              <a:rPr lang="en-US" sz="1800" dirty="0">
                <a:solidFill>
                  <a:srgbClr val="002060"/>
                </a:solidFill>
                <a:latin typeface="Mulish" pitchFamily="2" charset="0"/>
              </a:rPr>
            </a:b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Bank will manually push the transaction to client for </a:t>
            </a:r>
            <a:r>
              <a:rPr lang="en-US" sz="1800" dirty="0" err="1">
                <a:solidFill>
                  <a:srgbClr val="002060"/>
                </a:solidFill>
                <a:latin typeface="Mulish" pitchFamily="2" charset="0"/>
              </a:rPr>
              <a:t>updation</a:t>
            </a:r>
            <a:r>
              <a:rPr lang="en-US" sz="1800" dirty="0">
                <a:solidFill>
                  <a:srgbClr val="002060"/>
                </a:solidFill>
                <a:latin typeface="Mulish" pitchFamily="2" charset="0"/>
              </a:rPr>
              <a:t>.</a:t>
            </a:r>
          </a:p>
          <a:p>
            <a:endParaRPr lang="en-US" sz="1800" b="1" u="sng" dirty="0">
              <a:solidFill>
                <a:srgbClr val="C00000"/>
              </a:solidFill>
              <a:latin typeface="Mulish" pitchFamily="2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203205" y="152400"/>
            <a:ext cx="11684000" cy="5353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>
            <a:lvl1pPr marL="0" indent="0" algn="l" defTabSz="914285" rtl="0" eaLnBrk="1" latinLnBrk="0" hangingPunct="1">
              <a:spcBef>
                <a:spcPct val="20000"/>
              </a:spcBef>
              <a:buFont typeface="Arial" pitchFamily="34" charset="0"/>
              <a:buNone/>
              <a:defRPr sz="3199" b="1" kern="1200">
                <a:solidFill>
                  <a:schemeClr val="accent2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  <a:lvl2pPr marL="742858" indent="-285714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56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0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43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87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28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72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15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MIS Posting API – Retry attempts</a:t>
            </a:r>
            <a:endParaRPr lang="en-IN" dirty="0">
              <a:solidFill>
                <a:srgbClr val="841917"/>
              </a:solidFill>
              <a:latin typeface="Mulish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92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3399-483C-4B10-BB20-C20AD5951471}" type="slidenum">
              <a:rPr lang="en-IN" smtClean="0"/>
              <a:t>10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10810" y="141461"/>
            <a:ext cx="5405647" cy="5354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199" b="1" dirty="0">
                <a:solidFill>
                  <a:srgbClr val="841917"/>
                </a:solidFill>
                <a:latin typeface="Mulish" pitchFamily="2" charset="0"/>
              </a:rPr>
              <a:t>MIS FORMAT OVER EMAIL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C6C255-9963-22E7-BF90-DCD856217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12" y="1736640"/>
            <a:ext cx="11702304" cy="390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809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237070"/>
            <a:ext cx="9167807" cy="535393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Narration in Account Statement</a:t>
            </a:r>
            <a:endParaRPr lang="en-IN" dirty="0">
              <a:solidFill>
                <a:srgbClr val="841917"/>
              </a:solidFill>
              <a:latin typeface="Mulish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11</a:t>
            </a:fld>
            <a:endParaRPr lang="en-US" dirty="0">
              <a:solidFill>
                <a:srgbClr val="1F497D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287259"/>
              </p:ext>
            </p:extLst>
          </p:nvPr>
        </p:nvGraphicFramePr>
        <p:xfrm>
          <a:off x="455612" y="1219194"/>
          <a:ext cx="11353805" cy="441960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201623">
                  <a:extLst>
                    <a:ext uri="{9D8B030D-6E8A-4147-A177-3AD203B41FA5}">
                      <a16:colId xmlns:a16="http://schemas.microsoft.com/office/drawing/2014/main" val="1777560248"/>
                    </a:ext>
                  </a:extLst>
                </a:gridCol>
                <a:gridCol w="4058240">
                  <a:extLst>
                    <a:ext uri="{9D8B030D-6E8A-4147-A177-3AD203B41FA5}">
                      <a16:colId xmlns:a16="http://schemas.microsoft.com/office/drawing/2014/main" val="2973189368"/>
                    </a:ext>
                  </a:extLst>
                </a:gridCol>
                <a:gridCol w="6093942">
                  <a:extLst>
                    <a:ext uri="{9D8B030D-6E8A-4147-A177-3AD203B41FA5}">
                      <a16:colId xmlns:a16="http://schemas.microsoft.com/office/drawing/2014/main" val="1036057645"/>
                    </a:ext>
                  </a:extLst>
                </a:gridCol>
              </a:tblGrid>
              <a:tr h="6368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 dirty="0">
                          <a:effectLst/>
                          <a:latin typeface="Mulish" pitchFamily="2" charset="0"/>
                        </a:rPr>
                        <a:t>Payment</a:t>
                      </a:r>
                      <a:r>
                        <a:rPr lang="en-IN" sz="1500" b="1" u="none" strike="noStrike" baseline="0" dirty="0">
                          <a:effectLst/>
                          <a:latin typeface="Mulish" pitchFamily="2" charset="0"/>
                        </a:rPr>
                        <a:t> Mode</a:t>
                      </a:r>
                      <a:r>
                        <a:rPr lang="en-IN" sz="1500" b="1" u="none" strike="noStrike" dirty="0">
                          <a:effectLst/>
                          <a:latin typeface="Mulish" pitchFamily="2" charset="0"/>
                        </a:rPr>
                        <a:t> </a:t>
                      </a:r>
                      <a:endParaRPr lang="en-IN" sz="1500" b="1" i="0" u="none" strike="noStrike" dirty="0">
                        <a:solidFill>
                          <a:srgbClr val="FFFFFF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u="none" strike="noStrike" dirty="0">
                          <a:effectLst/>
                          <a:latin typeface="Mulish" pitchFamily="2" charset="0"/>
                        </a:rPr>
                        <a:t>Format of Narration in Account Statement</a:t>
                      </a:r>
                      <a:endParaRPr lang="en-US" sz="1500" b="1" i="0" u="none" strike="noStrike" dirty="0">
                        <a:solidFill>
                          <a:srgbClr val="FFFFFF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 dirty="0">
                          <a:effectLst/>
                          <a:latin typeface="Mulish" pitchFamily="2" charset="0"/>
                        </a:rPr>
                        <a:t>Sample narration</a:t>
                      </a:r>
                      <a:endParaRPr lang="en-IN" sz="1500" b="1" i="0" u="none" strike="noStrike" dirty="0">
                        <a:solidFill>
                          <a:srgbClr val="FFFFFF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27004"/>
                  </a:ext>
                </a:extLst>
              </a:tr>
              <a:tr h="6368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 dirty="0">
                          <a:effectLst/>
                          <a:latin typeface="Mulish" pitchFamily="2" charset="0"/>
                        </a:rPr>
                        <a:t>NEFT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Mulish" pitchFamily="2" charset="0"/>
                        </a:rPr>
                        <a:t>NEFT-UTR-</a:t>
                      </a:r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VID</a:t>
                      </a:r>
                      <a:r>
                        <a:rPr lang="en-US" sz="1500" u="none" strike="noStrike" dirty="0">
                          <a:effectLst/>
                          <a:latin typeface="Mulish" pitchFamily="2" charset="0"/>
                        </a:rPr>
                        <a:t>-Sender account name-Sender account no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kern="1200" dirty="0">
                          <a:effectLst/>
                          <a:latin typeface="Mulish" pitchFamily="2" charset="0"/>
                        </a:rPr>
                        <a:t>NEFT-IDFBH21201361579-</a:t>
                      </a:r>
                      <a:r>
                        <a:rPr lang="en-IN" sz="1500" b="1" kern="1200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RILDPP0008</a:t>
                      </a:r>
                      <a:r>
                        <a:rPr lang="en-IN" sz="1500" kern="1200" dirty="0">
                          <a:effectLst/>
                          <a:latin typeface="Mulish" pitchFamily="2" charset="0"/>
                        </a:rPr>
                        <a:t>-JINDAL POLY-53784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240340299"/>
                  </a:ext>
                </a:extLst>
              </a:tr>
              <a:tr h="6368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 dirty="0">
                          <a:effectLst/>
                          <a:latin typeface="Mulish" pitchFamily="2" charset="0"/>
                        </a:rPr>
                        <a:t>RTGS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RTGS-UTR-</a:t>
                      </a: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VID</a:t>
                      </a:r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-Sender Name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RTGS-HDFCR52021072053865784-</a:t>
                      </a: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RILDLB00080178</a:t>
                      </a:r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-KHURA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957697881"/>
                  </a:ext>
                </a:extLst>
              </a:tr>
              <a:tr h="6368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 dirty="0">
                          <a:effectLst/>
                          <a:latin typeface="Mulish" pitchFamily="2" charset="0"/>
                        </a:rPr>
                        <a:t>IMPS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MMT/IMPS/RRN/</a:t>
                      </a: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VID</a:t>
                      </a:r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/Sender account name/Sender</a:t>
                      </a:r>
                      <a:r>
                        <a:rPr lang="en-IN" sz="1500" u="none" strike="noStrike" baseline="0" dirty="0">
                          <a:effectLst/>
                          <a:latin typeface="Mulish" pitchFamily="2" charset="0"/>
                        </a:rPr>
                        <a:t> to Receiver Info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MMT/IMPS/120109506195/</a:t>
                      </a: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DSAW822095608</a:t>
                      </a:r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/DEVENDRASA/fee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601044735"/>
                  </a:ext>
                </a:extLst>
              </a:tr>
              <a:tr h="6368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 dirty="0">
                          <a:effectLst/>
                          <a:latin typeface="Mulish" pitchFamily="2" charset="0"/>
                        </a:rPr>
                        <a:t>UPI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u="none" strike="noStrike" dirty="0">
                          <a:effectLst/>
                          <a:latin typeface="Mulish" pitchFamily="2" charset="0"/>
                        </a:rPr>
                        <a:t>UPI/RRN/</a:t>
                      </a:r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VID</a:t>
                      </a:r>
                      <a:r>
                        <a:rPr lang="en-US" sz="1500" u="none" strike="noStrike" dirty="0">
                          <a:effectLst/>
                          <a:latin typeface="Mulish" pitchFamily="2" charset="0"/>
                        </a:rPr>
                        <a:t>/Payment remarks/payer UPI ID/Payer Bank IFSC Code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UPI/120109003616/</a:t>
                      </a: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DSAW63809446</a:t>
                      </a:r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/2/6380944206@upi/l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564546804"/>
                  </a:ext>
                </a:extLst>
              </a:tr>
              <a:tr h="63689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 dirty="0">
                          <a:effectLst/>
                          <a:latin typeface="Mulish" pitchFamily="2" charset="0"/>
                        </a:rPr>
                        <a:t>CIB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INF/INFT/Ref no/</a:t>
                      </a: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VID</a:t>
                      </a:r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/remarks/Sender account name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INF/INFT/024273862311/</a:t>
                      </a: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GECM116878</a:t>
                      </a:r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/GEMSEC</a:t>
                      </a:r>
                      <a:r>
                        <a:rPr lang="en-IN" sz="1500" u="none" strike="noStrike" baseline="0" dirty="0">
                          <a:effectLst/>
                          <a:latin typeface="Mulish" pitchFamily="2" charset="0"/>
                        </a:rPr>
                        <a:t>/SOM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361800271"/>
                  </a:ext>
                </a:extLst>
              </a:tr>
              <a:tr h="59821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500" b="1" u="none" strike="noStrike" dirty="0">
                          <a:effectLst/>
                          <a:latin typeface="Mulish" pitchFamily="2" charset="0"/>
                        </a:rPr>
                        <a:t>RIB</a:t>
                      </a:r>
                      <a:endParaRPr lang="en-IN" sz="1500" b="1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BIL/ECOL/Ref no/</a:t>
                      </a: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VID</a:t>
                      </a:r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/remarks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BIL/ECOL/000144169057/</a:t>
                      </a:r>
                      <a:r>
                        <a:rPr lang="en-IN" sz="1500" b="1" u="none" strike="noStrike" dirty="0">
                          <a:solidFill>
                            <a:srgbClr val="FF0000"/>
                          </a:solidFill>
                          <a:effectLst/>
                          <a:latin typeface="Mulish" pitchFamily="2" charset="0"/>
                        </a:rPr>
                        <a:t>GECM32873</a:t>
                      </a:r>
                      <a:r>
                        <a:rPr lang="en-IN" sz="1500" u="none" strike="noStrike" dirty="0">
                          <a:effectLst/>
                          <a:latin typeface="Mulish" pitchFamily="2" charset="0"/>
                        </a:rPr>
                        <a:t>/against caution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Mulish" pitchFamily="2" charset="0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2409004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60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237071"/>
            <a:ext cx="11684000" cy="535393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199" dirty="0">
                <a:solidFill>
                  <a:srgbClr val="841917"/>
                </a:solidFill>
                <a:latin typeface="Mulish" pitchFamily="2" charset="0"/>
              </a:rPr>
              <a:t>Steps for making payment to Virtual id using UPI Mode</a:t>
            </a:r>
            <a:endParaRPr lang="en-IN" sz="3199" dirty="0">
              <a:solidFill>
                <a:srgbClr val="841917"/>
              </a:solidFill>
              <a:latin typeface="Mulish" pitchFamily="2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12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7113" y="990600"/>
            <a:ext cx="1160621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>
                <a:solidFill>
                  <a:srgbClr val="972917"/>
                </a:solidFill>
                <a:latin typeface="Mulish" pitchFamily="2" charset="0"/>
              </a:rPr>
              <a:t>STEP 1 : </a:t>
            </a: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Payers needs to login to their </a:t>
            </a:r>
            <a:r>
              <a:rPr lang="en-US" sz="1600" b="1" dirty="0">
                <a:solidFill>
                  <a:srgbClr val="002060"/>
                </a:solidFill>
                <a:latin typeface="Mulish" pitchFamily="2" charset="0"/>
              </a:rPr>
              <a:t>UPI App (PSP App) </a:t>
            </a: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for making payments using </a:t>
            </a:r>
            <a:r>
              <a:rPr lang="en-US" sz="1600" b="1" dirty="0">
                <a:solidFill>
                  <a:srgbClr val="002060"/>
                </a:solidFill>
                <a:latin typeface="Mulish" pitchFamily="2" charset="0"/>
              </a:rPr>
              <a:t>Virtual ID</a:t>
            </a:r>
            <a:endParaRPr lang="en-IN" sz="1600" b="1" dirty="0">
              <a:solidFill>
                <a:srgbClr val="002060"/>
              </a:solidFill>
              <a:latin typeface="Mulish" pitchFamily="2" charset="0"/>
            </a:endParaRPr>
          </a:p>
          <a:p>
            <a:pPr lvl="0">
              <a:lnSpc>
                <a:spcPct val="150000"/>
              </a:lnSpc>
            </a:pPr>
            <a:r>
              <a:rPr lang="en-US" sz="1600" b="1" dirty="0">
                <a:solidFill>
                  <a:srgbClr val="972917"/>
                </a:solidFill>
                <a:latin typeface="Mulish" pitchFamily="2" charset="0"/>
              </a:rPr>
              <a:t>STEP 2 : </a:t>
            </a: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Payer needs to select the </a:t>
            </a:r>
            <a:r>
              <a:rPr lang="en-US" sz="1600" b="1" dirty="0">
                <a:solidFill>
                  <a:srgbClr val="002060"/>
                </a:solidFill>
                <a:latin typeface="Mulish" pitchFamily="2" charset="0"/>
              </a:rPr>
              <a:t>send money to Bank Account Option</a:t>
            </a: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972917"/>
                </a:solidFill>
                <a:latin typeface="Mulish" pitchFamily="2" charset="0"/>
              </a:rPr>
              <a:t>STEP 3 : </a:t>
            </a: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Enter the </a:t>
            </a:r>
            <a:r>
              <a:rPr lang="en-US" sz="1600" b="1" dirty="0">
                <a:solidFill>
                  <a:srgbClr val="002060"/>
                </a:solidFill>
                <a:latin typeface="Mulish" pitchFamily="2" charset="0"/>
              </a:rPr>
              <a:t>Virtual ID and IFSC Code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972917"/>
                </a:solidFill>
                <a:latin typeface="Mulish" pitchFamily="2" charset="0"/>
              </a:rPr>
              <a:t>STEP 4 : </a:t>
            </a: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Enter the </a:t>
            </a:r>
            <a:r>
              <a:rPr lang="en-US" sz="1600" b="1" dirty="0">
                <a:solidFill>
                  <a:srgbClr val="002060"/>
                </a:solidFill>
                <a:latin typeface="Mulish" pitchFamily="2" charset="0"/>
              </a:rPr>
              <a:t>Amount</a:t>
            </a: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 and </a:t>
            </a:r>
            <a:r>
              <a:rPr lang="en-US" sz="1600" b="1" dirty="0">
                <a:solidFill>
                  <a:srgbClr val="002060"/>
                </a:solidFill>
                <a:latin typeface="Mulish" pitchFamily="2" charset="0"/>
              </a:rPr>
              <a:t>UPI Pin</a:t>
            </a: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 to complete the transaction</a:t>
            </a:r>
            <a:br>
              <a:rPr lang="en-US" sz="1600" dirty="0">
                <a:solidFill>
                  <a:srgbClr val="002060"/>
                </a:solidFill>
                <a:latin typeface="Mulish" pitchFamily="2" charset="0"/>
              </a:rPr>
            </a:br>
            <a:endParaRPr lang="en-US" sz="1600" dirty="0">
              <a:solidFill>
                <a:srgbClr val="002060"/>
              </a:solidFill>
              <a:latin typeface="Mulish" pitchFamily="2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002060"/>
              </a:solidFill>
              <a:latin typeface="Mulish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972917"/>
                </a:solidFill>
                <a:latin typeface="Mulish" pitchFamily="2" charset="0"/>
              </a:rPr>
              <a:t>Important Points:</a:t>
            </a:r>
            <a:endParaRPr lang="en-IN" sz="1600" b="1" dirty="0">
              <a:solidFill>
                <a:srgbClr val="972917"/>
              </a:solidFill>
              <a:latin typeface="Mulish" pitchFamily="2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If Virtual ID is correct, the money is credited to the corporate’s account, else the transaction is rejected.</a:t>
            </a:r>
            <a:br>
              <a:rPr lang="en-US" sz="1600" dirty="0">
                <a:solidFill>
                  <a:srgbClr val="002060"/>
                </a:solidFill>
                <a:latin typeface="Mulish" pitchFamily="2" charset="0"/>
              </a:rPr>
            </a:br>
            <a:endParaRPr lang="en-US" sz="1600" dirty="0">
              <a:solidFill>
                <a:srgbClr val="002060"/>
              </a:solidFill>
              <a:latin typeface="Mulish" pitchFamily="2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Application generated MIS and the same is sent to the corporate clien</a:t>
            </a:r>
            <a:r>
              <a:rPr lang="en-US" sz="1600" dirty="0">
                <a:latin typeface="Mulish" pitchFamily="2" charset="0"/>
              </a:rPr>
              <a:t>t</a:t>
            </a:r>
          </a:p>
          <a:p>
            <a:pPr lvl="1">
              <a:lnSpc>
                <a:spcPct val="150000"/>
              </a:lnSpc>
            </a:pPr>
            <a:r>
              <a:rPr lang="en-US" sz="1600" b="1" dirty="0">
                <a:solidFill>
                  <a:srgbClr val="002060"/>
                </a:solidFill>
                <a:latin typeface="Mulish" pitchFamily="2" charset="0"/>
              </a:rPr>
              <a:t>Note</a:t>
            </a: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: Account Managers can access the MIS using Profun</a:t>
            </a:r>
            <a:r>
              <a:rPr lang="en-US" sz="1600" dirty="0">
                <a:latin typeface="Mulish" pitchFamily="2" charset="0"/>
              </a:rPr>
              <a:t>ds (bank’s internal system)</a:t>
            </a:r>
            <a:br>
              <a:rPr lang="en-US" sz="1600" dirty="0">
                <a:latin typeface="Mulish" pitchFamily="2" charset="0"/>
              </a:rPr>
            </a:br>
            <a:endParaRPr lang="en-US" sz="1600" dirty="0">
              <a:latin typeface="Mulish" pitchFamily="2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Mulish" pitchFamily="2" charset="0"/>
              </a:rPr>
              <a:t>Payer Details is visible in the account statement narration for easy reconciliat</a:t>
            </a:r>
            <a:r>
              <a:rPr lang="en-US" sz="1600" dirty="0">
                <a:latin typeface="Mulish" pitchFamily="2" charset="0"/>
              </a:rPr>
              <a:t>ion</a:t>
            </a:r>
            <a:endParaRPr lang="en-IN" sz="1600" dirty="0">
              <a:latin typeface="Mulish" pitchFamily="2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Mulish" pitchFamily="2" charset="0"/>
            </a:endParaRPr>
          </a:p>
          <a:p>
            <a:pPr>
              <a:lnSpc>
                <a:spcPct val="150000"/>
              </a:lnSpc>
            </a:pPr>
            <a:endParaRPr lang="en-US" sz="1600" dirty="0">
              <a:latin typeface="Mulish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Mulish" pitchFamily="2" charset="0"/>
              </a:rPr>
              <a:t>								</a:t>
            </a:r>
          </a:p>
        </p:txBody>
      </p:sp>
    </p:spTree>
    <p:extLst>
      <p:ext uri="{BB962C8B-B14F-4D97-AF65-F5344CB8AC3E}">
        <p14:creationId xmlns:p14="http://schemas.microsoft.com/office/powerpoint/2010/main" val="17154520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13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6" name="Slide Number Placeholder 4"/>
          <p:cNvSpPr txBox="1">
            <a:spLocks/>
          </p:cNvSpPr>
          <p:nvPr/>
        </p:nvSpPr>
        <p:spPr>
          <a:xfrm>
            <a:off x="11199818" y="6415628"/>
            <a:ext cx="609600" cy="366183"/>
          </a:xfrm>
          <a:prstGeom prst="rect">
            <a:avLst/>
          </a:prstGeom>
        </p:spPr>
        <p:txBody>
          <a:bodyPr vert="horz" lIns="91427" tIns="45713" rIns="91427" bIns="45713" rtlCol="0" anchor="ctr"/>
          <a:lstStyle>
            <a:defPPr>
              <a:defRPr lang="en-US"/>
            </a:defPPr>
            <a:lvl1pPr marL="0" algn="r" defTabSz="914285" rtl="0" eaLnBrk="1" latinLnBrk="0" hangingPunct="1">
              <a:defRPr sz="1200" kern="1200">
                <a:solidFill>
                  <a:schemeClr val="tx2"/>
                </a:solidFill>
                <a:latin typeface="Zurich Lt BT" pitchFamily="34" charset="0"/>
                <a:ea typeface="+mn-ea"/>
                <a:cs typeface="+mn-cs"/>
              </a:defRPr>
            </a:lvl1pPr>
            <a:lvl2pPr marL="457141" algn="l" defTabSz="91428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85" algn="l" defTabSz="91428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428" algn="l" defTabSz="91428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572" algn="l" defTabSz="91428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713" algn="l" defTabSz="91428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857" algn="l" defTabSz="91428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algn="l" defTabSz="91428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144" algn="l" defTabSz="914285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13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7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237071"/>
            <a:ext cx="11684000" cy="535393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UPI transaction via </a:t>
            </a:r>
            <a:r>
              <a:rPr lang="en-US" dirty="0" err="1">
                <a:solidFill>
                  <a:srgbClr val="841917"/>
                </a:solidFill>
                <a:latin typeface="Mulish" pitchFamily="2" charset="0"/>
              </a:rPr>
              <a:t>Gpay</a:t>
            </a: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 (PSP)</a:t>
            </a:r>
            <a:endParaRPr lang="en-IN" sz="3199" dirty="0">
              <a:solidFill>
                <a:srgbClr val="841917"/>
              </a:solidFill>
              <a:latin typeface="Mulish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518" y="1736173"/>
            <a:ext cx="2685134" cy="4720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518" y="1736173"/>
            <a:ext cx="3075094" cy="466462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80761" y="3352800"/>
            <a:ext cx="539949" cy="5334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813358" y="2797759"/>
            <a:ext cx="2844759" cy="24384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31805" y="908437"/>
            <a:ext cx="11453807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1. Open Google pay app</a:t>
            </a:r>
            <a:r>
              <a:rPr lang="en-US" sz="1400" b="1" dirty="0">
                <a:sym typeface="Wingdings" panose="05000000000000000000" pitchFamily="2" charset="2"/>
              </a:rPr>
              <a:t> </a:t>
            </a:r>
            <a:r>
              <a:rPr lang="en-US" sz="1400" b="1" dirty="0"/>
              <a:t>Select “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Bank Transfer</a:t>
            </a:r>
            <a:r>
              <a:rPr lang="en-US" sz="1400" b="1" dirty="0"/>
              <a:t>” option</a:t>
            </a:r>
            <a:r>
              <a:rPr lang="en-US" sz="1400" b="1" dirty="0">
                <a:sym typeface="Wingdings" panose="05000000000000000000" pitchFamily="2" charset="2"/>
              </a:rPr>
              <a:t> </a:t>
            </a:r>
            <a:r>
              <a:rPr lang="en-IN" sz="1400" b="1" dirty="0"/>
              <a:t>Enter Bank account number as </a:t>
            </a:r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Virtual ID </a:t>
            </a:r>
            <a:r>
              <a:rPr lang="en-US" sz="1400" b="1" dirty="0"/>
              <a:t>and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IFSC code </a:t>
            </a:r>
            <a:r>
              <a:rPr lang="en-US" sz="1400" b="1" dirty="0"/>
              <a:t>of e-Collection</a:t>
            </a:r>
            <a:br>
              <a:rPr lang="en-US" sz="1400" b="1" dirty="0"/>
            </a:br>
            <a:endParaRPr lang="en-US" sz="1400" b="1" dirty="0"/>
          </a:p>
        </p:txBody>
      </p:sp>
      <p:sp>
        <p:nvSpPr>
          <p:cNvPr id="14" name="Oval 13"/>
          <p:cNvSpPr/>
          <p:nvPr/>
        </p:nvSpPr>
        <p:spPr>
          <a:xfrm>
            <a:off x="3015471" y="1600200"/>
            <a:ext cx="377851" cy="332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1</a:t>
            </a:r>
            <a:endParaRPr lang="en-IN" sz="1600" b="1" dirty="0"/>
          </a:p>
        </p:txBody>
      </p:sp>
      <p:sp>
        <p:nvSpPr>
          <p:cNvPr id="15" name="Oval 14"/>
          <p:cNvSpPr/>
          <p:nvPr/>
        </p:nvSpPr>
        <p:spPr>
          <a:xfrm>
            <a:off x="7092247" y="1660433"/>
            <a:ext cx="415636" cy="3322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2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933379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094126" y="6270041"/>
            <a:ext cx="3860800" cy="366183"/>
          </a:xfrm>
        </p:spPr>
        <p:txBody>
          <a:bodyPr/>
          <a:lstStyle/>
          <a:p>
            <a:pPr defTabSz="1218622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14</a:t>
            </a:fld>
            <a:endParaRPr lang="en-US" dirty="0">
              <a:solidFill>
                <a:srgbClr val="1F497D"/>
              </a:solidFill>
            </a:endParaRPr>
          </a:p>
        </p:txBody>
      </p:sp>
      <p:pic>
        <p:nvPicPr>
          <p:cNvPr id="5122" name="Picture 2" descr="14fed6f3-1787-4308-95a2-92de85ccd4dc@INDPRD01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11"/>
          <a:stretch/>
        </p:blipFill>
        <p:spPr bwMode="auto">
          <a:xfrm>
            <a:off x="2071756" y="1905000"/>
            <a:ext cx="2880180" cy="4445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03205" y="237071"/>
            <a:ext cx="11684000" cy="535393"/>
          </a:xfr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…UPI transaction via </a:t>
            </a:r>
            <a:r>
              <a:rPr lang="en-US" dirty="0" err="1">
                <a:solidFill>
                  <a:srgbClr val="841917"/>
                </a:solidFill>
                <a:latin typeface="Mulish" pitchFamily="2" charset="0"/>
              </a:rPr>
              <a:t>Gpay</a:t>
            </a: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 (PSP)</a:t>
            </a:r>
            <a:endParaRPr lang="en-IN" sz="3199" dirty="0">
              <a:solidFill>
                <a:srgbClr val="841917"/>
              </a:solidFill>
              <a:latin typeface="Mulish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12108" y="909209"/>
            <a:ext cx="10568704" cy="55399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2.</a:t>
            </a:r>
            <a:r>
              <a:rPr lang="en-IN" sz="1600" b="1" dirty="0"/>
              <a:t> </a:t>
            </a:r>
            <a:r>
              <a:rPr lang="en-IN" sz="1400" b="1" dirty="0"/>
              <a:t>Enter Bank account number as </a:t>
            </a:r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Virtual ID </a:t>
            </a:r>
            <a:r>
              <a:rPr lang="en-US" sz="1400" b="1" dirty="0"/>
              <a:t>and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IFSC code </a:t>
            </a:r>
            <a:r>
              <a:rPr lang="en-US" sz="1400" b="1" dirty="0"/>
              <a:t>of e-Collection </a:t>
            </a:r>
            <a:r>
              <a:rPr lang="en-US" sz="1400" b="1" dirty="0">
                <a:sym typeface="Wingdings" panose="05000000000000000000" pitchFamily="2" charset="2"/>
              </a:rPr>
              <a:t> Enter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Amount</a:t>
            </a:r>
            <a:r>
              <a:rPr lang="en-US" sz="1400" b="1" dirty="0">
                <a:sym typeface="Wingdings" panose="05000000000000000000" pitchFamily="2" charset="2"/>
              </a:rPr>
              <a:t>, If payer wants to add Remarks for transaction, then click on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Add a note</a:t>
            </a:r>
            <a:r>
              <a:rPr lang="en-US" sz="1400" b="1" dirty="0">
                <a:sym typeface="Wingdings" panose="05000000000000000000" pitchFamily="2" charset="2"/>
              </a:rPr>
              <a:t> Then click on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Arrow</a:t>
            </a:r>
            <a:r>
              <a:rPr lang="en-US" sz="1400" b="1" dirty="0">
                <a:sym typeface="Wingdings" panose="05000000000000000000" pitchFamily="2" charset="2"/>
              </a:rPr>
              <a:t>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Enter Pin </a:t>
            </a:r>
            <a:r>
              <a:rPr lang="en-US" sz="1400" b="1" dirty="0">
                <a:sym typeface="Wingdings" panose="05000000000000000000" pitchFamily="2" charset="2"/>
              </a:rPr>
              <a:t>and </a:t>
            </a:r>
            <a:r>
              <a:rPr lang="en-US" sz="1400" b="1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Make payment</a:t>
            </a:r>
            <a:endParaRPr lang="en-US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123" name="Picture 3" descr="f1a227fc-9e7a-4b48-8293-bd72bcc74ce8@INDPRD01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2"/>
          <a:stretch/>
        </p:blipFill>
        <p:spPr bwMode="auto">
          <a:xfrm>
            <a:off x="6211744" y="1905000"/>
            <a:ext cx="2549668" cy="446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2170327" y="2666999"/>
            <a:ext cx="2746017" cy="331741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6627221" y="3480510"/>
            <a:ext cx="1433070" cy="81137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8025374" y="4521996"/>
            <a:ext cx="727523" cy="39868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435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032645" y="6422441"/>
            <a:ext cx="3860800" cy="366183"/>
          </a:xfrm>
        </p:spPr>
        <p:txBody>
          <a:bodyPr/>
          <a:lstStyle/>
          <a:p>
            <a:pPr defTabSz="1218622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428412" y="6415628"/>
            <a:ext cx="609600" cy="366183"/>
          </a:xfrm>
        </p:spPr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15</a:t>
            </a:fld>
            <a:endParaRPr lang="en-US" dirty="0">
              <a:solidFill>
                <a:srgbClr val="1F497D"/>
              </a:solidFill>
            </a:endParaRPr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203205" y="237071"/>
            <a:ext cx="11684000" cy="5353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>
            <a:lvl1pPr marL="0" indent="0" algn="l" defTabSz="914285" rtl="0" eaLnBrk="1" latinLnBrk="0" hangingPunct="1">
              <a:spcBef>
                <a:spcPct val="20000"/>
              </a:spcBef>
              <a:buFont typeface="Arial" pitchFamily="34" charset="0"/>
              <a:buNone/>
              <a:defRPr sz="3199" b="1" kern="1200">
                <a:solidFill>
                  <a:schemeClr val="accent2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  <a:lvl2pPr marL="742858" indent="-285714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56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0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43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87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28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72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15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UPI transaction via </a:t>
            </a:r>
            <a:r>
              <a:rPr lang="en-US" dirty="0" err="1">
                <a:solidFill>
                  <a:srgbClr val="841917"/>
                </a:solidFill>
                <a:latin typeface="Mulish" pitchFamily="2" charset="0"/>
              </a:rPr>
              <a:t>Phonepe</a:t>
            </a: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 (PSP)</a:t>
            </a:r>
            <a:endParaRPr lang="en-IN" dirty="0">
              <a:solidFill>
                <a:srgbClr val="841917"/>
              </a:solidFill>
              <a:latin typeface="Mulish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937" y="1725978"/>
            <a:ext cx="2406526" cy="50558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2" y="1704765"/>
            <a:ext cx="2439821" cy="504229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4590" y="1692867"/>
            <a:ext cx="2294111" cy="505419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470" y="1691239"/>
            <a:ext cx="2373842" cy="5090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85561" y="914400"/>
            <a:ext cx="10266651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en-US" dirty="0"/>
              <a:t>Open phone pay App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Click on To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Bank/UPI Id </a:t>
            </a:r>
            <a:r>
              <a:rPr lang="en-US" dirty="0"/>
              <a:t>option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Add Beneficiary </a:t>
            </a:r>
            <a:r>
              <a:rPr lang="en-US" dirty="0">
                <a:sym typeface="Wingdings" panose="05000000000000000000" pitchFamily="2" charset="2"/>
              </a:rPr>
              <a:t>Account Select Bank as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ICICI Bank</a:t>
            </a:r>
            <a:r>
              <a:rPr lang="en-US" dirty="0">
                <a:sym typeface="Wingdings" panose="05000000000000000000" pitchFamily="2" charset="2"/>
              </a:rPr>
              <a:t> Enter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Virtual ID in Account number </a:t>
            </a:r>
            <a:r>
              <a:rPr lang="en-US" dirty="0">
                <a:sym typeface="Wingdings" panose="05000000000000000000" pitchFamily="2" charset="2"/>
              </a:rPr>
              <a:t>field and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IFSC</a:t>
            </a:r>
            <a:r>
              <a:rPr lang="en-US" dirty="0">
                <a:sym typeface="Wingdings" panose="05000000000000000000" pitchFamily="2" charset="2"/>
              </a:rPr>
              <a:t> of E-collection Click next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Enter Amount, PIN </a:t>
            </a:r>
            <a:r>
              <a:rPr lang="en-US" dirty="0">
                <a:sym typeface="Wingdings" panose="05000000000000000000" pitchFamily="2" charset="2"/>
              </a:rPr>
              <a:t>and make payment</a:t>
            </a:r>
            <a:endParaRPr lang="en-IN" dirty="0"/>
          </a:p>
        </p:txBody>
      </p:sp>
      <p:sp>
        <p:nvSpPr>
          <p:cNvPr id="12" name="Rectangle 11"/>
          <p:cNvSpPr/>
          <p:nvPr/>
        </p:nvSpPr>
        <p:spPr>
          <a:xfrm>
            <a:off x="1794792" y="4274671"/>
            <a:ext cx="621671" cy="60212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3963045" y="5227538"/>
            <a:ext cx="1930400" cy="4112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6422191" y="1828800"/>
            <a:ext cx="1023472" cy="3810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8812281" y="2845774"/>
            <a:ext cx="2290982" cy="888026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9040881" y="6415627"/>
            <a:ext cx="1757582" cy="331433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4676746" y="1532215"/>
            <a:ext cx="395075" cy="3180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2</a:t>
            </a:r>
            <a:endParaRPr lang="en-IN" b="1" dirty="0"/>
          </a:p>
        </p:txBody>
      </p:sp>
      <p:sp>
        <p:nvSpPr>
          <p:cNvPr id="19" name="Oval 18"/>
          <p:cNvSpPr/>
          <p:nvPr/>
        </p:nvSpPr>
        <p:spPr>
          <a:xfrm>
            <a:off x="7431588" y="1510753"/>
            <a:ext cx="395075" cy="3180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3</a:t>
            </a:r>
            <a:endParaRPr lang="en-IN" b="1" dirty="0"/>
          </a:p>
        </p:txBody>
      </p:sp>
      <p:sp>
        <p:nvSpPr>
          <p:cNvPr id="20" name="Oval 19"/>
          <p:cNvSpPr/>
          <p:nvPr/>
        </p:nvSpPr>
        <p:spPr>
          <a:xfrm>
            <a:off x="9807863" y="1586953"/>
            <a:ext cx="395075" cy="3180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4</a:t>
            </a:r>
            <a:endParaRPr lang="en-IN" b="1" dirty="0"/>
          </a:p>
        </p:txBody>
      </p:sp>
      <p:sp>
        <p:nvSpPr>
          <p:cNvPr id="21" name="Oval 20"/>
          <p:cNvSpPr/>
          <p:nvPr/>
        </p:nvSpPr>
        <p:spPr>
          <a:xfrm>
            <a:off x="2264063" y="1524000"/>
            <a:ext cx="395075" cy="3180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52210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052988" y="6568017"/>
            <a:ext cx="3860800" cy="366183"/>
          </a:xfrm>
        </p:spPr>
        <p:txBody>
          <a:bodyPr/>
          <a:lstStyle/>
          <a:p>
            <a:pPr defTabSz="1218622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276012" y="6415617"/>
            <a:ext cx="609600" cy="366183"/>
          </a:xfrm>
        </p:spPr>
        <p:txBody>
          <a:bodyPr/>
          <a:lstStyle/>
          <a:p>
            <a:fld id="{050E451D-5525-4539-B07D-AF98FB2E324F}" type="slidenum">
              <a:rPr lang="en-US" smtClean="0">
                <a:solidFill>
                  <a:srgbClr val="1F497D"/>
                </a:solidFill>
              </a:rPr>
              <a:pPr/>
              <a:t>16</a:t>
            </a:fld>
            <a:endParaRPr lang="en-US" dirty="0">
              <a:solidFill>
                <a:srgbClr val="1F497D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71"/>
          <a:stretch/>
        </p:blipFill>
        <p:spPr>
          <a:xfrm>
            <a:off x="7507737" y="1732060"/>
            <a:ext cx="2472869" cy="48431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9"/>
          <a:stretch/>
        </p:blipFill>
        <p:spPr>
          <a:xfrm>
            <a:off x="4954992" y="1785815"/>
            <a:ext cx="2287946" cy="47753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548" y="1752697"/>
            <a:ext cx="2657475" cy="482917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444085" y="6205131"/>
            <a:ext cx="1930400" cy="41126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459907" y="3962400"/>
            <a:ext cx="1930400" cy="28089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9384738" y="4291103"/>
            <a:ext cx="615085" cy="28089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323561" y="990652"/>
            <a:ext cx="11865264" cy="5232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/>
            </a:lvl1pPr>
          </a:lstStyle>
          <a:p>
            <a:r>
              <a:rPr lang="en-US" dirty="0"/>
              <a:t>Enter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Bank account details</a:t>
            </a:r>
            <a:r>
              <a:rPr lang="en-US" dirty="0">
                <a:sym typeface="Wingdings" panose="05000000000000000000" pitchFamily="2" charset="2"/>
              </a:rPr>
              <a:t> Click on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Proceed to Pay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Enter Amount </a:t>
            </a:r>
            <a:r>
              <a:rPr lang="en-US" dirty="0">
                <a:sym typeface="Wingdings" panose="05000000000000000000" pitchFamily="2" charset="2"/>
              </a:rPr>
              <a:t> If payer wants to send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Remarks</a:t>
            </a:r>
            <a:r>
              <a:rPr lang="en-US" dirty="0">
                <a:sym typeface="Wingdings" panose="05000000000000000000" pitchFamily="2" charset="2"/>
              </a:rPr>
              <a:t>, click on Add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Transaction Note</a:t>
            </a:r>
            <a:r>
              <a:rPr lang="en-US" dirty="0">
                <a:sym typeface="Wingdings" panose="05000000000000000000" pitchFamily="2" charset="2"/>
              </a:rPr>
              <a:t> Click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sym typeface="Wingdings" panose="05000000000000000000" pitchFamily="2" charset="2"/>
              </a:rPr>
              <a:t>Pay</a:t>
            </a:r>
            <a:r>
              <a:rPr lang="en-US" dirty="0">
                <a:sym typeface="Wingdings" panose="05000000000000000000" pitchFamily="2" charset="2"/>
              </a:rPr>
              <a:t> button</a:t>
            </a:r>
            <a:endParaRPr lang="en-IN" dirty="0"/>
          </a:p>
        </p:txBody>
      </p:sp>
      <p:sp>
        <p:nvSpPr>
          <p:cNvPr id="17" name="Text Placeholder 1"/>
          <p:cNvSpPr txBox="1">
            <a:spLocks/>
          </p:cNvSpPr>
          <p:nvPr/>
        </p:nvSpPr>
        <p:spPr>
          <a:xfrm>
            <a:off x="203205" y="237071"/>
            <a:ext cx="11684000" cy="5353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91428" tIns="45715" rIns="91428" bIns="45715">
            <a:spAutoFit/>
          </a:bodyPr>
          <a:lstStyle>
            <a:lvl1pPr marL="0" indent="0" algn="l" defTabSz="914285" rtl="0" eaLnBrk="1" latinLnBrk="0" hangingPunct="1">
              <a:spcBef>
                <a:spcPct val="20000"/>
              </a:spcBef>
              <a:buFont typeface="Arial" pitchFamily="34" charset="0"/>
              <a:buNone/>
              <a:defRPr sz="3199" b="1" kern="1200">
                <a:solidFill>
                  <a:schemeClr val="accent2"/>
                </a:solidFill>
                <a:latin typeface="Zurich BT" panose="020B0603020202030204" pitchFamily="34" charset="0"/>
                <a:ea typeface="+mn-ea"/>
                <a:cs typeface="+mn-cs"/>
              </a:defRPr>
            </a:lvl1pPr>
            <a:lvl2pPr marL="742858" indent="-285714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856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00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143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287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428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572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715" indent="-228572" algn="l" defTabSz="914285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…UPI transaction via </a:t>
            </a:r>
            <a:r>
              <a:rPr lang="en-US" dirty="0" err="1">
                <a:solidFill>
                  <a:srgbClr val="841917"/>
                </a:solidFill>
                <a:latin typeface="Mulish" pitchFamily="2" charset="0"/>
              </a:rPr>
              <a:t>Phonepe</a:t>
            </a:r>
            <a:r>
              <a:rPr lang="en-US" dirty="0">
                <a:solidFill>
                  <a:srgbClr val="841917"/>
                </a:solidFill>
                <a:latin typeface="Mulish" pitchFamily="2" charset="0"/>
              </a:rPr>
              <a:t> (PSP)</a:t>
            </a:r>
            <a:endParaRPr lang="en-IN" dirty="0">
              <a:solidFill>
                <a:srgbClr val="841917"/>
              </a:solidFill>
              <a:latin typeface="Mulish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745708" y="1593673"/>
            <a:ext cx="395075" cy="3180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5</a:t>
            </a:r>
            <a:endParaRPr lang="en-IN" b="1" dirty="0"/>
          </a:p>
        </p:txBody>
      </p:sp>
      <p:sp>
        <p:nvSpPr>
          <p:cNvPr id="19" name="Oval 18"/>
          <p:cNvSpPr/>
          <p:nvPr/>
        </p:nvSpPr>
        <p:spPr>
          <a:xfrm>
            <a:off x="6475406" y="1586953"/>
            <a:ext cx="395075" cy="3180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6</a:t>
            </a:r>
            <a:endParaRPr lang="en-IN" b="1" dirty="0"/>
          </a:p>
        </p:txBody>
      </p:sp>
      <p:sp>
        <p:nvSpPr>
          <p:cNvPr id="20" name="Oval 19"/>
          <p:cNvSpPr/>
          <p:nvPr/>
        </p:nvSpPr>
        <p:spPr>
          <a:xfrm>
            <a:off x="9280731" y="1600200"/>
            <a:ext cx="395075" cy="3180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7</a:t>
            </a:r>
            <a:endParaRPr lang="en-IN" b="1" dirty="0"/>
          </a:p>
        </p:txBody>
      </p:sp>
      <p:sp>
        <p:nvSpPr>
          <p:cNvPr id="21" name="Rectangle 20"/>
          <p:cNvSpPr/>
          <p:nvPr/>
        </p:nvSpPr>
        <p:spPr>
          <a:xfrm>
            <a:off x="5004517" y="6248400"/>
            <a:ext cx="1318489" cy="30898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779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A3399-483C-4B10-BB20-C20AD5951471}" type="slidenum">
              <a:rPr lang="en-IN" smtClean="0"/>
              <a:t>17</a:t>
            </a:fld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511987" y="99626"/>
            <a:ext cx="4668266" cy="5354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199" b="1" dirty="0">
                <a:solidFill>
                  <a:srgbClr val="841917"/>
                </a:solidFill>
                <a:latin typeface="Mulish" pitchFamily="2" charset="0"/>
              </a:rPr>
              <a:t>Technical Pre-requisite</a:t>
            </a:r>
          </a:p>
        </p:txBody>
      </p:sp>
      <p:sp>
        <p:nvSpPr>
          <p:cNvPr id="18" name="Round Diagonal Corner Rectangle 17"/>
          <p:cNvSpPr/>
          <p:nvPr/>
        </p:nvSpPr>
        <p:spPr>
          <a:xfrm>
            <a:off x="496544" y="1296287"/>
            <a:ext cx="8891499" cy="659291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ysClr val="windowText" lastClr="000000"/>
                </a:solidFill>
                <a:latin typeface="Mulish" pitchFamily="2" charset="0"/>
              </a:rPr>
              <a:t>1. *CA signed Public Certificate from client, preferable 4096  bit certificate</a:t>
            </a:r>
            <a:endParaRPr lang="en-IN" sz="1600" b="1" dirty="0">
              <a:solidFill>
                <a:sysClr val="windowText" lastClr="000000"/>
              </a:solidFill>
              <a:latin typeface="Mulish" pitchFamily="2" charset="0"/>
            </a:endParaRPr>
          </a:p>
        </p:txBody>
      </p:sp>
      <p:sp>
        <p:nvSpPr>
          <p:cNvPr id="19" name="Round Diagonal Corner Rectangle 18"/>
          <p:cNvSpPr/>
          <p:nvPr/>
        </p:nvSpPr>
        <p:spPr>
          <a:xfrm>
            <a:off x="555713" y="3325315"/>
            <a:ext cx="8891499" cy="1780085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ysClr val="windowText" lastClr="000000"/>
                </a:solidFill>
                <a:latin typeface="Mulish" pitchFamily="2" charset="0"/>
              </a:rPr>
              <a:t>3. Client’s ERP URL  (mention in text file) </a:t>
            </a:r>
            <a:br>
              <a:rPr lang="en-US" sz="1600" b="1" dirty="0">
                <a:solidFill>
                  <a:sysClr val="windowText" lastClr="000000"/>
                </a:solidFill>
                <a:latin typeface="Mulish" pitchFamily="2" charset="0"/>
              </a:rPr>
            </a:br>
            <a:endParaRPr lang="en-US" sz="1600" b="1" dirty="0">
              <a:solidFill>
                <a:sysClr val="windowText" lastClr="000000"/>
              </a:solidFill>
              <a:latin typeface="Mulish" pitchFamily="2" charset="0"/>
            </a:endParaRPr>
          </a:p>
          <a:p>
            <a:r>
              <a:rPr lang="en-US" sz="1600" b="1" dirty="0">
                <a:solidFill>
                  <a:sysClr val="windowText" lastClr="000000"/>
                </a:solidFill>
                <a:latin typeface="Mulish" pitchFamily="2" charset="0"/>
              </a:rPr>
              <a:t>We need 2 URLs for MSG Hold API and MIS Posting API.</a:t>
            </a:r>
          </a:p>
          <a:p>
            <a:r>
              <a:rPr lang="en-US" sz="1600" b="1" dirty="0">
                <a:solidFill>
                  <a:sysClr val="windowText" lastClr="000000"/>
                </a:solidFill>
                <a:latin typeface="Mulish" pitchFamily="2" charset="0"/>
              </a:rPr>
              <a:t>It should be of "https://" based </a:t>
            </a:r>
          </a:p>
          <a:p>
            <a:br>
              <a:rPr lang="en-US" sz="1600" b="1" dirty="0">
                <a:solidFill>
                  <a:sysClr val="windowText" lastClr="000000"/>
                </a:solidFill>
                <a:latin typeface="Mulish" pitchFamily="2" charset="0"/>
              </a:rPr>
            </a:br>
            <a:endParaRPr lang="en-IN" sz="1600" b="1" dirty="0">
              <a:solidFill>
                <a:sysClr val="windowText" lastClr="000000"/>
              </a:solidFill>
              <a:latin typeface="Mulish" pitchFamily="2" charset="0"/>
            </a:endParaRPr>
          </a:p>
        </p:txBody>
      </p:sp>
      <p:sp>
        <p:nvSpPr>
          <p:cNvPr id="20" name="Round Diagonal Corner Rectangle 19"/>
          <p:cNvSpPr/>
          <p:nvPr/>
        </p:nvSpPr>
        <p:spPr>
          <a:xfrm>
            <a:off x="531181" y="2190545"/>
            <a:ext cx="8891499" cy="711617"/>
          </a:xfrm>
          <a:prstGeom prst="round2Diag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ysClr val="windowText" lastClr="000000"/>
                </a:solidFill>
                <a:latin typeface="Mulish" pitchFamily="2" charset="0"/>
              </a:rPr>
              <a:t>2. Client code and Coding language of client’s ERP ( mention in text file)</a:t>
            </a:r>
            <a:endParaRPr lang="en-IN" sz="1600" b="1" dirty="0">
              <a:solidFill>
                <a:sysClr val="windowText" lastClr="000000"/>
              </a:solidFill>
              <a:latin typeface="Mulish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98612" y="5486400"/>
            <a:ext cx="9601206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Mulish" pitchFamily="2" charset="0"/>
              </a:rPr>
              <a:t>*Client can procure / purchase certificate from Go daddy, Geo Trust, Amazon AWS, </a:t>
            </a:r>
            <a:r>
              <a:rPr lang="en-US" sz="1600" b="1" dirty="0" err="1">
                <a:latin typeface="Mulish" pitchFamily="2" charset="0"/>
              </a:rPr>
              <a:t>Digicert</a:t>
            </a:r>
            <a:r>
              <a:rPr lang="en-US" sz="1600" b="1" dirty="0">
                <a:latin typeface="Mulish" pitchFamily="2" charset="0"/>
              </a:rPr>
              <a:t>, Entrust etc…These are the vendors who provide certificates</a:t>
            </a:r>
            <a:endParaRPr lang="en-IN" sz="1600" b="1" dirty="0">
              <a:latin typeface="Mulish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150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106433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+Thank You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.pptx" id="{C5564F5E-AFD2-46B3-872C-E7BE6A4A943C}" vid="{5EC86699-F386-4248-BC86-28C6DB7B1135}"/>
    </a:ext>
  </a:extLst>
</a:theme>
</file>

<file path=ppt/theme/theme2.xml><?xml version="1.0" encoding="utf-8"?>
<a:theme xmlns:a="http://schemas.openxmlformats.org/drawingml/2006/main" name="Agenda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.pptx" id="{C5564F5E-AFD2-46B3-872C-E7BE6A4A943C}" vid="{CDE88FB9-D077-4981-9D55-8F0BA95FD490}"/>
    </a:ext>
  </a:extLst>
</a:theme>
</file>

<file path=ppt/theme/theme3.xml><?xml version="1.0" encoding="utf-8"?>
<a:theme xmlns:a="http://schemas.openxmlformats.org/drawingml/2006/main" name="Text Slide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.pptx" id="{C5564F5E-AFD2-46B3-872C-E7BE6A4A943C}" vid="{829A44CF-3F82-412F-9B9F-B817E845F823}"/>
    </a:ext>
  </a:extLst>
</a:theme>
</file>

<file path=ppt/theme/theme4.xml><?xml version="1.0" encoding="utf-8"?>
<a:theme xmlns:a="http://schemas.openxmlformats.org/drawingml/2006/main" name="Text + Media 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.pptx" id="{C5564F5E-AFD2-46B3-872C-E7BE6A4A943C}" vid="{BB8DB687-64B3-4173-83CC-3FDA64A3C855}"/>
    </a:ext>
  </a:extLst>
</a:theme>
</file>

<file path=ppt/theme/theme5.xml><?xml version="1.0" encoding="utf-8"?>
<a:theme xmlns:a="http://schemas.openxmlformats.org/drawingml/2006/main" name="Graph Slides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CICI Bank Presentation Template.pptx" id="{C5564F5E-AFD2-46B3-872C-E7BE6A4A943C}" vid="{F0F074AB-EE5B-4E82-BBF9-485B87BA2CF3}"/>
    </a:ext>
  </a:extLst>
</a:theme>
</file>

<file path=ppt/theme/theme6.xml><?xml version="1.0" encoding="utf-8"?>
<a:theme xmlns:a="http://schemas.openxmlformats.org/drawingml/2006/main" name="Full Table 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.pptx" id="{C5564F5E-AFD2-46B3-872C-E7BE6A4A943C}" vid="{994CD3A0-E580-4BE5-B9D4-B8FFB2A1ED0C}"/>
    </a:ext>
  </a:extLst>
</a:theme>
</file>

<file path=ppt/theme/theme7.xml><?xml version="1.0" encoding="utf-8"?>
<a:theme xmlns:a="http://schemas.openxmlformats.org/drawingml/2006/main" name="Smart Art 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.pptx" id="{C5564F5E-AFD2-46B3-872C-E7BE6A4A943C}" vid="{156106CC-279F-4394-A814-BAC9D777A93C}"/>
    </a:ext>
  </a:extLst>
</a:theme>
</file>

<file path=ppt/theme/theme8.xml><?xml version="1.0" encoding="utf-8"?>
<a:theme xmlns:a="http://schemas.openxmlformats.org/drawingml/2006/main" name="Impact Slide">
  <a:themeElements>
    <a:clrScheme name="Offic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77817"/>
      </a:accent1>
      <a:accent2>
        <a:srgbClr val="97291E"/>
      </a:accent2>
      <a:accent3>
        <a:srgbClr val="053C6D"/>
      </a:accent3>
      <a:accent4>
        <a:srgbClr val="D1CFBB"/>
      </a:accent4>
      <a:accent5>
        <a:srgbClr val="FDB92A"/>
      </a:accent5>
      <a:accent6>
        <a:srgbClr val="F4858E"/>
      </a:accent6>
      <a:hlink>
        <a:srgbClr val="00C0F3"/>
      </a:hlink>
      <a:folHlink>
        <a:srgbClr val="917BB9"/>
      </a:folHlink>
    </a:clrScheme>
    <a:fontScheme name="ICICI">
      <a:majorFont>
        <a:latin typeface="Zurich BT"/>
        <a:ea typeface=""/>
        <a:cs typeface=""/>
      </a:majorFont>
      <a:minorFont>
        <a:latin typeface="Zurich B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ICI Bank Presentation Template.pptx" id="{C5564F5E-AFD2-46B3-872C-E7BE6A4A943C}" vid="{623E8060-A796-4698-8159-FFEEAD6FFD44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ial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E77817"/>
    </a:accent1>
    <a:accent2>
      <a:srgbClr val="97291E"/>
    </a:accent2>
    <a:accent3>
      <a:srgbClr val="053C6D"/>
    </a:accent3>
    <a:accent4>
      <a:srgbClr val="D1CFBB"/>
    </a:accent4>
    <a:accent5>
      <a:srgbClr val="FDB92A"/>
    </a:accent5>
    <a:accent6>
      <a:srgbClr val="F4858E"/>
    </a:accent6>
    <a:hlink>
      <a:srgbClr val="00C0F3"/>
    </a:hlink>
    <a:folHlink>
      <a:srgbClr val="917BB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5426</TotalTime>
  <Words>1704</Words>
  <Application>Microsoft Office PowerPoint</Application>
  <PresentationFormat>Custom</PresentationFormat>
  <Paragraphs>227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18</vt:i4>
      </vt:variant>
    </vt:vector>
  </HeadingPairs>
  <TitlesOfParts>
    <vt:vector size="33" baseType="lpstr">
      <vt:lpstr>Arial</vt:lpstr>
      <vt:lpstr>Calibri</vt:lpstr>
      <vt:lpstr>Mulish</vt:lpstr>
      <vt:lpstr>Wingdings</vt:lpstr>
      <vt:lpstr>Zurich BT</vt:lpstr>
      <vt:lpstr>Zurich BT Roman</vt:lpstr>
      <vt:lpstr>Zurich Lt BT</vt:lpstr>
      <vt:lpstr>Title +Thank You</vt:lpstr>
      <vt:lpstr>Agenda</vt:lpstr>
      <vt:lpstr>Text Slide</vt:lpstr>
      <vt:lpstr>Text + Media </vt:lpstr>
      <vt:lpstr>Graph Slides</vt:lpstr>
      <vt:lpstr>Full Table </vt:lpstr>
      <vt:lpstr>Smart Art </vt:lpstr>
      <vt:lpstr>Impact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Akriti Kumari     //IBANK/ANDH</dc:creator>
  <cp:lastModifiedBy>Rutuja Surve     /MERCHANTPR/IBANK/MUM</cp:lastModifiedBy>
  <cp:revision>456</cp:revision>
  <dcterms:created xsi:type="dcterms:W3CDTF">2019-10-15T11:19:57Z</dcterms:created>
  <dcterms:modified xsi:type="dcterms:W3CDTF">2025-12-19T07:15:37Z</dcterms:modified>
</cp:coreProperties>
</file>